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rabakaran Krishnan" initials="PK" lastIdx="2" clrIdx="0">
    <p:extLst>
      <p:ext uri="{19B8F6BF-5375-455C-9EA6-DF929625EA0E}">
        <p15:presenceInfo xmlns:p15="http://schemas.microsoft.com/office/powerpoint/2012/main" userId="65b14826b619ea6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83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6-27T23:44:41.955" idx="1">
    <p:pos x="10" y="10"/>
    <p:text>Good evening everyone.
Thank you for joining this Agentic AI Workshop.
Today, we are not going to spend four hours talking about AI.
Instead, we are going to build AI Agents using Python.
By the end of this session, you will understand:
• AI Agents
• LLMs
• Memory
• Tool Calling
• MCP
• End-to-End AI Agent
Let's begin.</p:text>
    <p:extLst>
      <p:ext uri="{C676402C-5697-4E1C-873F-D02D1690AC5C}">
        <p15:threadingInfo xmlns:p15="http://schemas.microsoft.com/office/powerpoint/2012/main" timeZoneBias="-480"/>
      </p:ext>
    </p:extLst>
  </p:cm>
  <p:cm authorId="1" dt="2026-06-27T23:45:44.182" idx="2">
    <p:pos x="146" y="146"/>
    <p:text/>
    <p:extLst>
      <p:ext uri="{C676402C-5697-4E1C-873F-D02D1690AC5C}">
        <p15:threadingInfo xmlns:p15="http://schemas.microsoft.com/office/powerpoint/2012/main" timeZoneBias="-48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0D373B-7AEE-48E6-A08B-8675D2E84941}" type="datetimeFigureOut">
              <a:rPr lang="en-SG" smtClean="0"/>
              <a:t>27/6/2026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94C529-6060-46D8-85E4-A44FF04E44F6}" type="slidenum">
              <a:rPr lang="en-SG" smtClean="0"/>
              <a:t>‹#›</a:t>
            </a:fld>
            <a:endParaRPr lang="en-SG"/>
          </a:p>
        </p:txBody>
      </p:sp>
    </p:spTree>
    <p:extLst>
      <p:ext uri="{BB962C8B-B14F-4D97-AF65-F5344CB8AC3E}">
        <p14:creationId xmlns:p14="http://schemas.microsoft.com/office/powerpoint/2010/main" val="1275497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evening everyone.</a:t>
            </a:r>
          </a:p>
          <a:p>
            <a:endParaRPr lang="en-US" dirty="0"/>
          </a:p>
          <a:p>
            <a:r>
              <a:rPr lang="en-US" dirty="0"/>
              <a:t>Thank you for joining this Agentic AI Workshop.</a:t>
            </a:r>
          </a:p>
          <a:p>
            <a:endParaRPr lang="en-US" dirty="0"/>
          </a:p>
          <a:p>
            <a:r>
              <a:rPr lang="en-US" dirty="0"/>
              <a:t>Today, we are not going to spend four hours talking about AI.</a:t>
            </a:r>
          </a:p>
          <a:p>
            <a:endParaRPr lang="en-US" dirty="0"/>
          </a:p>
          <a:p>
            <a:r>
              <a:rPr lang="en-US" dirty="0"/>
              <a:t>Instead, we are going to build AI Agents using Python.</a:t>
            </a:r>
          </a:p>
          <a:p>
            <a:endParaRPr lang="en-US" dirty="0"/>
          </a:p>
          <a:p>
            <a:r>
              <a:rPr lang="en-US" dirty="0"/>
              <a:t>By the end of this session, you will understand:</a:t>
            </a:r>
          </a:p>
          <a:p>
            <a:r>
              <a:rPr lang="en-US" dirty="0"/>
              <a:t>• AI Agents</a:t>
            </a:r>
          </a:p>
          <a:p>
            <a:r>
              <a:rPr lang="en-US" dirty="0"/>
              <a:t>• LLMs</a:t>
            </a:r>
          </a:p>
          <a:p>
            <a:r>
              <a:rPr lang="en-US" dirty="0"/>
              <a:t>• Memory</a:t>
            </a:r>
          </a:p>
          <a:p>
            <a:r>
              <a:rPr lang="en-US" dirty="0"/>
              <a:t>• Tool Calling</a:t>
            </a:r>
          </a:p>
          <a:p>
            <a:r>
              <a:rPr lang="en-US" dirty="0"/>
              <a:t>• MCP</a:t>
            </a:r>
          </a:p>
          <a:p>
            <a:r>
              <a:rPr lang="en-US" dirty="0"/>
              <a:t>• End-to-End AI Agent</a:t>
            </a:r>
          </a:p>
          <a:p>
            <a:endParaRPr lang="en-US" dirty="0"/>
          </a:p>
          <a:p>
            <a:r>
              <a:rPr lang="en-US"/>
              <a:t>Let's begin.</a:t>
            </a:r>
            <a:endParaRPr lang="en-SG"/>
          </a:p>
        </p:txBody>
      </p:sp>
      <p:sp>
        <p:nvSpPr>
          <p:cNvPr id="4" name="Slide Number Placeholder 3"/>
          <p:cNvSpPr>
            <a:spLocks noGrp="1"/>
          </p:cNvSpPr>
          <p:nvPr>
            <p:ph type="sldNum" sz="quarter" idx="5"/>
          </p:nvPr>
        </p:nvSpPr>
        <p:spPr/>
        <p:txBody>
          <a:bodyPr/>
          <a:lstStyle/>
          <a:p>
            <a:fld id="{F494C529-6060-46D8-85E4-A44FF04E44F6}" type="slidenum">
              <a:rPr lang="en-SG" smtClean="0"/>
              <a:t>1</a:t>
            </a:fld>
            <a:endParaRPr lang="en-SG"/>
          </a:p>
        </p:txBody>
      </p:sp>
    </p:spTree>
    <p:extLst>
      <p:ext uri="{BB962C8B-B14F-4D97-AF65-F5344CB8AC3E}">
        <p14:creationId xmlns:p14="http://schemas.microsoft.com/office/powerpoint/2010/main" val="1827644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4F42F-4449-D1D7-008D-6195B11BDA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SG"/>
          </a:p>
        </p:txBody>
      </p:sp>
      <p:sp>
        <p:nvSpPr>
          <p:cNvPr id="3" name="Subtitle 2">
            <a:extLst>
              <a:ext uri="{FF2B5EF4-FFF2-40B4-BE49-F238E27FC236}">
                <a16:creationId xmlns:a16="http://schemas.microsoft.com/office/drawing/2014/main" id="{50CF02BB-3407-7814-F107-48B140C152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SG"/>
          </a:p>
        </p:txBody>
      </p:sp>
      <p:sp>
        <p:nvSpPr>
          <p:cNvPr id="4" name="Date Placeholder 3">
            <a:extLst>
              <a:ext uri="{FF2B5EF4-FFF2-40B4-BE49-F238E27FC236}">
                <a16:creationId xmlns:a16="http://schemas.microsoft.com/office/drawing/2014/main" id="{A46650A6-9547-2818-AD2E-6F09331F544C}"/>
              </a:ext>
            </a:extLst>
          </p:cNvPr>
          <p:cNvSpPr>
            <a:spLocks noGrp="1"/>
          </p:cNvSpPr>
          <p:nvPr>
            <p:ph type="dt" sz="half" idx="10"/>
          </p:nvPr>
        </p:nvSpPr>
        <p:spPr/>
        <p:txBody>
          <a:bodyPr/>
          <a:lstStyle/>
          <a:p>
            <a:fld id="{E0431E7A-7697-42CE-B377-997E4136EAC5}" type="datetimeFigureOut">
              <a:rPr lang="en-SG" smtClean="0"/>
              <a:t>27/6/2026</a:t>
            </a:fld>
            <a:endParaRPr lang="en-SG"/>
          </a:p>
        </p:txBody>
      </p:sp>
      <p:sp>
        <p:nvSpPr>
          <p:cNvPr id="5" name="Footer Placeholder 4">
            <a:extLst>
              <a:ext uri="{FF2B5EF4-FFF2-40B4-BE49-F238E27FC236}">
                <a16:creationId xmlns:a16="http://schemas.microsoft.com/office/drawing/2014/main" id="{0FD66846-9D1F-17BC-2BE0-3489C56F4985}"/>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51290290-1786-C66E-59DA-553147546CD4}"/>
              </a:ext>
            </a:extLst>
          </p:cNvPr>
          <p:cNvSpPr>
            <a:spLocks noGrp="1"/>
          </p:cNvSpPr>
          <p:nvPr>
            <p:ph type="sldNum" sz="quarter" idx="12"/>
          </p:nvPr>
        </p:nvSpPr>
        <p:spPr/>
        <p:txBody>
          <a:bodyPr/>
          <a:lstStyle/>
          <a:p>
            <a:fld id="{4CE4B9DD-11E7-4714-9560-B05D53523474}" type="slidenum">
              <a:rPr lang="en-SG" smtClean="0"/>
              <a:t>‹#›</a:t>
            </a:fld>
            <a:endParaRPr lang="en-SG"/>
          </a:p>
        </p:txBody>
      </p:sp>
    </p:spTree>
    <p:extLst>
      <p:ext uri="{BB962C8B-B14F-4D97-AF65-F5344CB8AC3E}">
        <p14:creationId xmlns:p14="http://schemas.microsoft.com/office/powerpoint/2010/main" val="2615414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A25CA-F327-704D-496D-111214D75A05}"/>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57C1648C-982C-EB18-2AEE-9A6D2DE49C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CC329E42-F014-BF21-4887-E1331B2A28FE}"/>
              </a:ext>
            </a:extLst>
          </p:cNvPr>
          <p:cNvSpPr>
            <a:spLocks noGrp="1"/>
          </p:cNvSpPr>
          <p:nvPr>
            <p:ph type="dt" sz="half" idx="10"/>
          </p:nvPr>
        </p:nvSpPr>
        <p:spPr/>
        <p:txBody>
          <a:bodyPr/>
          <a:lstStyle/>
          <a:p>
            <a:fld id="{E0431E7A-7697-42CE-B377-997E4136EAC5}" type="datetimeFigureOut">
              <a:rPr lang="en-SG" smtClean="0"/>
              <a:t>27/6/2026</a:t>
            </a:fld>
            <a:endParaRPr lang="en-SG"/>
          </a:p>
        </p:txBody>
      </p:sp>
      <p:sp>
        <p:nvSpPr>
          <p:cNvPr id="5" name="Footer Placeholder 4">
            <a:extLst>
              <a:ext uri="{FF2B5EF4-FFF2-40B4-BE49-F238E27FC236}">
                <a16:creationId xmlns:a16="http://schemas.microsoft.com/office/drawing/2014/main" id="{3F402FE3-6640-3093-27A1-345A102376EC}"/>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41443208-E71B-ED36-A5FD-BE636B5C880A}"/>
              </a:ext>
            </a:extLst>
          </p:cNvPr>
          <p:cNvSpPr>
            <a:spLocks noGrp="1"/>
          </p:cNvSpPr>
          <p:nvPr>
            <p:ph type="sldNum" sz="quarter" idx="12"/>
          </p:nvPr>
        </p:nvSpPr>
        <p:spPr/>
        <p:txBody>
          <a:bodyPr/>
          <a:lstStyle/>
          <a:p>
            <a:fld id="{4CE4B9DD-11E7-4714-9560-B05D53523474}" type="slidenum">
              <a:rPr lang="en-SG" smtClean="0"/>
              <a:t>‹#›</a:t>
            </a:fld>
            <a:endParaRPr lang="en-SG"/>
          </a:p>
        </p:txBody>
      </p:sp>
    </p:spTree>
    <p:extLst>
      <p:ext uri="{BB962C8B-B14F-4D97-AF65-F5344CB8AC3E}">
        <p14:creationId xmlns:p14="http://schemas.microsoft.com/office/powerpoint/2010/main" val="1519222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3DBEE-06F2-E4CC-8165-ECCE398B5F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SG"/>
          </a:p>
        </p:txBody>
      </p:sp>
      <p:sp>
        <p:nvSpPr>
          <p:cNvPr id="3" name="Text Placeholder 2">
            <a:extLst>
              <a:ext uri="{FF2B5EF4-FFF2-40B4-BE49-F238E27FC236}">
                <a16:creationId xmlns:a16="http://schemas.microsoft.com/office/drawing/2014/main" id="{AFDD5FC7-BB9E-AFEA-B570-0D610C9539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C595C1-AC83-B8D7-4B85-69330EB5C541}"/>
              </a:ext>
            </a:extLst>
          </p:cNvPr>
          <p:cNvSpPr>
            <a:spLocks noGrp="1"/>
          </p:cNvSpPr>
          <p:nvPr>
            <p:ph type="dt" sz="half" idx="10"/>
          </p:nvPr>
        </p:nvSpPr>
        <p:spPr/>
        <p:txBody>
          <a:bodyPr/>
          <a:lstStyle/>
          <a:p>
            <a:fld id="{E0431E7A-7697-42CE-B377-997E4136EAC5}" type="datetimeFigureOut">
              <a:rPr lang="en-SG" smtClean="0"/>
              <a:t>27/6/2026</a:t>
            </a:fld>
            <a:endParaRPr lang="en-SG"/>
          </a:p>
        </p:txBody>
      </p:sp>
      <p:sp>
        <p:nvSpPr>
          <p:cNvPr id="5" name="Footer Placeholder 4">
            <a:extLst>
              <a:ext uri="{FF2B5EF4-FFF2-40B4-BE49-F238E27FC236}">
                <a16:creationId xmlns:a16="http://schemas.microsoft.com/office/drawing/2014/main" id="{A06DC545-C222-B545-065D-D0E6C14D5336}"/>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5F0BD5A3-F58D-9E4F-D761-6E174287BD8D}"/>
              </a:ext>
            </a:extLst>
          </p:cNvPr>
          <p:cNvSpPr>
            <a:spLocks noGrp="1"/>
          </p:cNvSpPr>
          <p:nvPr>
            <p:ph type="sldNum" sz="quarter" idx="12"/>
          </p:nvPr>
        </p:nvSpPr>
        <p:spPr/>
        <p:txBody>
          <a:bodyPr/>
          <a:lstStyle/>
          <a:p>
            <a:fld id="{4CE4B9DD-11E7-4714-9560-B05D53523474}" type="slidenum">
              <a:rPr lang="en-SG" smtClean="0"/>
              <a:t>‹#›</a:t>
            </a:fld>
            <a:endParaRPr lang="en-SG"/>
          </a:p>
        </p:txBody>
      </p:sp>
    </p:spTree>
    <p:extLst>
      <p:ext uri="{BB962C8B-B14F-4D97-AF65-F5344CB8AC3E}">
        <p14:creationId xmlns:p14="http://schemas.microsoft.com/office/powerpoint/2010/main" val="478422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5E3DA-7DAB-33B0-A0F7-F452486CA6E4}"/>
              </a:ext>
            </a:extLst>
          </p:cNvPr>
          <p:cNvSpPr>
            <a:spLocks noGrp="1"/>
          </p:cNvSpPr>
          <p:nvPr>
            <p:ph type="title"/>
          </p:nvPr>
        </p:nvSpPr>
        <p:spPr/>
        <p:txBody>
          <a:bodyPr/>
          <a:lstStyle/>
          <a:p>
            <a:r>
              <a:rPr lang="en-US"/>
              <a:t>Click to edit Master title style</a:t>
            </a:r>
            <a:endParaRPr lang="en-SG"/>
          </a:p>
        </p:txBody>
      </p:sp>
      <p:sp>
        <p:nvSpPr>
          <p:cNvPr id="3" name="Content Placeholder 2">
            <a:extLst>
              <a:ext uri="{FF2B5EF4-FFF2-40B4-BE49-F238E27FC236}">
                <a16:creationId xmlns:a16="http://schemas.microsoft.com/office/drawing/2014/main" id="{C35C9213-1F9A-5951-1E28-F778BB5A735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a:extLst>
              <a:ext uri="{FF2B5EF4-FFF2-40B4-BE49-F238E27FC236}">
                <a16:creationId xmlns:a16="http://schemas.microsoft.com/office/drawing/2014/main" id="{2E826D7B-C82E-E153-C43E-D409AFEF502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a:extLst>
              <a:ext uri="{FF2B5EF4-FFF2-40B4-BE49-F238E27FC236}">
                <a16:creationId xmlns:a16="http://schemas.microsoft.com/office/drawing/2014/main" id="{01EC3712-5089-9898-4EC7-30FC4B842501}"/>
              </a:ext>
            </a:extLst>
          </p:cNvPr>
          <p:cNvSpPr>
            <a:spLocks noGrp="1"/>
          </p:cNvSpPr>
          <p:nvPr>
            <p:ph type="dt" sz="half" idx="10"/>
          </p:nvPr>
        </p:nvSpPr>
        <p:spPr/>
        <p:txBody>
          <a:bodyPr/>
          <a:lstStyle/>
          <a:p>
            <a:fld id="{E0431E7A-7697-42CE-B377-997E4136EAC5}" type="datetimeFigureOut">
              <a:rPr lang="en-SG" smtClean="0"/>
              <a:t>27/6/2026</a:t>
            </a:fld>
            <a:endParaRPr lang="en-SG"/>
          </a:p>
        </p:txBody>
      </p:sp>
      <p:sp>
        <p:nvSpPr>
          <p:cNvPr id="6" name="Footer Placeholder 5">
            <a:extLst>
              <a:ext uri="{FF2B5EF4-FFF2-40B4-BE49-F238E27FC236}">
                <a16:creationId xmlns:a16="http://schemas.microsoft.com/office/drawing/2014/main" id="{FB0CBCC0-FF97-4BAA-73D3-2C0E6E0D5EE5}"/>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4E3F345A-8293-7942-40A4-5D3CDEF7983F}"/>
              </a:ext>
            </a:extLst>
          </p:cNvPr>
          <p:cNvSpPr>
            <a:spLocks noGrp="1"/>
          </p:cNvSpPr>
          <p:nvPr>
            <p:ph type="sldNum" sz="quarter" idx="12"/>
          </p:nvPr>
        </p:nvSpPr>
        <p:spPr/>
        <p:txBody>
          <a:bodyPr/>
          <a:lstStyle/>
          <a:p>
            <a:fld id="{4CE4B9DD-11E7-4714-9560-B05D53523474}" type="slidenum">
              <a:rPr lang="en-SG" smtClean="0"/>
              <a:t>‹#›</a:t>
            </a:fld>
            <a:endParaRPr lang="en-SG"/>
          </a:p>
        </p:txBody>
      </p:sp>
    </p:spTree>
    <p:extLst>
      <p:ext uri="{BB962C8B-B14F-4D97-AF65-F5344CB8AC3E}">
        <p14:creationId xmlns:p14="http://schemas.microsoft.com/office/powerpoint/2010/main" val="397742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7328D-29CD-F8AA-6819-B0C6E9075A9E}"/>
              </a:ext>
            </a:extLst>
          </p:cNvPr>
          <p:cNvSpPr>
            <a:spLocks noGrp="1"/>
          </p:cNvSpPr>
          <p:nvPr>
            <p:ph type="title"/>
          </p:nvPr>
        </p:nvSpPr>
        <p:spPr>
          <a:xfrm>
            <a:off x="839788" y="365125"/>
            <a:ext cx="10515600" cy="1325563"/>
          </a:xfrm>
        </p:spPr>
        <p:txBody>
          <a:bodyPr/>
          <a:lstStyle/>
          <a:p>
            <a:r>
              <a:rPr lang="en-US"/>
              <a:t>Click to edit Master title style</a:t>
            </a:r>
            <a:endParaRPr lang="en-SG"/>
          </a:p>
        </p:txBody>
      </p:sp>
      <p:sp>
        <p:nvSpPr>
          <p:cNvPr id="3" name="Text Placeholder 2">
            <a:extLst>
              <a:ext uri="{FF2B5EF4-FFF2-40B4-BE49-F238E27FC236}">
                <a16:creationId xmlns:a16="http://schemas.microsoft.com/office/drawing/2014/main" id="{24D1BEEC-5226-4B15-BFE1-817F7860DE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B24DE3-5629-F1F7-A532-9BD425F4202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a:extLst>
              <a:ext uri="{FF2B5EF4-FFF2-40B4-BE49-F238E27FC236}">
                <a16:creationId xmlns:a16="http://schemas.microsoft.com/office/drawing/2014/main" id="{2C67ED68-700C-CED0-D174-B52ACE2857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02DC18-3269-8DC1-0786-A389CC02B5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a:extLst>
              <a:ext uri="{FF2B5EF4-FFF2-40B4-BE49-F238E27FC236}">
                <a16:creationId xmlns:a16="http://schemas.microsoft.com/office/drawing/2014/main" id="{75B94913-BBA3-6E76-1DB1-1C73C8644EB3}"/>
              </a:ext>
            </a:extLst>
          </p:cNvPr>
          <p:cNvSpPr>
            <a:spLocks noGrp="1"/>
          </p:cNvSpPr>
          <p:nvPr>
            <p:ph type="dt" sz="half" idx="10"/>
          </p:nvPr>
        </p:nvSpPr>
        <p:spPr/>
        <p:txBody>
          <a:bodyPr/>
          <a:lstStyle/>
          <a:p>
            <a:fld id="{E0431E7A-7697-42CE-B377-997E4136EAC5}" type="datetimeFigureOut">
              <a:rPr lang="en-SG" smtClean="0"/>
              <a:t>27/6/2026</a:t>
            </a:fld>
            <a:endParaRPr lang="en-SG"/>
          </a:p>
        </p:txBody>
      </p:sp>
      <p:sp>
        <p:nvSpPr>
          <p:cNvPr id="8" name="Footer Placeholder 7">
            <a:extLst>
              <a:ext uri="{FF2B5EF4-FFF2-40B4-BE49-F238E27FC236}">
                <a16:creationId xmlns:a16="http://schemas.microsoft.com/office/drawing/2014/main" id="{08EB0168-638E-3218-11CB-A979B6934849}"/>
              </a:ext>
            </a:extLst>
          </p:cNvPr>
          <p:cNvSpPr>
            <a:spLocks noGrp="1"/>
          </p:cNvSpPr>
          <p:nvPr>
            <p:ph type="ftr" sz="quarter" idx="11"/>
          </p:nvPr>
        </p:nvSpPr>
        <p:spPr/>
        <p:txBody>
          <a:bodyPr/>
          <a:lstStyle/>
          <a:p>
            <a:endParaRPr lang="en-SG"/>
          </a:p>
        </p:txBody>
      </p:sp>
      <p:sp>
        <p:nvSpPr>
          <p:cNvPr id="9" name="Slide Number Placeholder 8">
            <a:extLst>
              <a:ext uri="{FF2B5EF4-FFF2-40B4-BE49-F238E27FC236}">
                <a16:creationId xmlns:a16="http://schemas.microsoft.com/office/drawing/2014/main" id="{E1C3F47E-F073-AE17-6A17-31730CA6F9F9}"/>
              </a:ext>
            </a:extLst>
          </p:cNvPr>
          <p:cNvSpPr>
            <a:spLocks noGrp="1"/>
          </p:cNvSpPr>
          <p:nvPr>
            <p:ph type="sldNum" sz="quarter" idx="12"/>
          </p:nvPr>
        </p:nvSpPr>
        <p:spPr/>
        <p:txBody>
          <a:bodyPr/>
          <a:lstStyle/>
          <a:p>
            <a:fld id="{4CE4B9DD-11E7-4714-9560-B05D53523474}" type="slidenum">
              <a:rPr lang="en-SG" smtClean="0"/>
              <a:t>‹#›</a:t>
            </a:fld>
            <a:endParaRPr lang="en-SG"/>
          </a:p>
        </p:txBody>
      </p:sp>
    </p:spTree>
    <p:extLst>
      <p:ext uri="{BB962C8B-B14F-4D97-AF65-F5344CB8AC3E}">
        <p14:creationId xmlns:p14="http://schemas.microsoft.com/office/powerpoint/2010/main" val="30449677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4C56F-5836-19B2-9B7D-492DD73D5FDE}"/>
              </a:ext>
            </a:extLst>
          </p:cNvPr>
          <p:cNvSpPr>
            <a:spLocks noGrp="1"/>
          </p:cNvSpPr>
          <p:nvPr>
            <p:ph type="title"/>
          </p:nvPr>
        </p:nvSpPr>
        <p:spPr/>
        <p:txBody>
          <a:bodyPr/>
          <a:lstStyle/>
          <a:p>
            <a:r>
              <a:rPr lang="en-US"/>
              <a:t>Click to edit Master title style</a:t>
            </a:r>
            <a:endParaRPr lang="en-SG"/>
          </a:p>
        </p:txBody>
      </p:sp>
      <p:sp>
        <p:nvSpPr>
          <p:cNvPr id="3" name="Date Placeholder 2">
            <a:extLst>
              <a:ext uri="{FF2B5EF4-FFF2-40B4-BE49-F238E27FC236}">
                <a16:creationId xmlns:a16="http://schemas.microsoft.com/office/drawing/2014/main" id="{F16E3BF7-6B51-B8B1-AB7A-DE9173E43FCD}"/>
              </a:ext>
            </a:extLst>
          </p:cNvPr>
          <p:cNvSpPr>
            <a:spLocks noGrp="1"/>
          </p:cNvSpPr>
          <p:nvPr>
            <p:ph type="dt" sz="half" idx="10"/>
          </p:nvPr>
        </p:nvSpPr>
        <p:spPr/>
        <p:txBody>
          <a:bodyPr/>
          <a:lstStyle/>
          <a:p>
            <a:fld id="{E0431E7A-7697-42CE-B377-997E4136EAC5}" type="datetimeFigureOut">
              <a:rPr lang="en-SG" smtClean="0"/>
              <a:t>27/6/2026</a:t>
            </a:fld>
            <a:endParaRPr lang="en-SG"/>
          </a:p>
        </p:txBody>
      </p:sp>
      <p:sp>
        <p:nvSpPr>
          <p:cNvPr id="4" name="Footer Placeholder 3">
            <a:extLst>
              <a:ext uri="{FF2B5EF4-FFF2-40B4-BE49-F238E27FC236}">
                <a16:creationId xmlns:a16="http://schemas.microsoft.com/office/drawing/2014/main" id="{1FDFD0D2-5175-36E2-0575-07B299516656}"/>
              </a:ext>
            </a:extLst>
          </p:cNvPr>
          <p:cNvSpPr>
            <a:spLocks noGrp="1"/>
          </p:cNvSpPr>
          <p:nvPr>
            <p:ph type="ftr" sz="quarter" idx="11"/>
          </p:nvPr>
        </p:nvSpPr>
        <p:spPr/>
        <p:txBody>
          <a:bodyPr/>
          <a:lstStyle/>
          <a:p>
            <a:endParaRPr lang="en-SG"/>
          </a:p>
        </p:txBody>
      </p:sp>
      <p:sp>
        <p:nvSpPr>
          <p:cNvPr id="5" name="Slide Number Placeholder 4">
            <a:extLst>
              <a:ext uri="{FF2B5EF4-FFF2-40B4-BE49-F238E27FC236}">
                <a16:creationId xmlns:a16="http://schemas.microsoft.com/office/drawing/2014/main" id="{351230C4-9FB5-1E63-D08D-030473AA08FC}"/>
              </a:ext>
            </a:extLst>
          </p:cNvPr>
          <p:cNvSpPr>
            <a:spLocks noGrp="1"/>
          </p:cNvSpPr>
          <p:nvPr>
            <p:ph type="sldNum" sz="quarter" idx="12"/>
          </p:nvPr>
        </p:nvSpPr>
        <p:spPr/>
        <p:txBody>
          <a:bodyPr/>
          <a:lstStyle/>
          <a:p>
            <a:fld id="{4CE4B9DD-11E7-4714-9560-B05D53523474}" type="slidenum">
              <a:rPr lang="en-SG" smtClean="0"/>
              <a:t>‹#›</a:t>
            </a:fld>
            <a:endParaRPr lang="en-SG"/>
          </a:p>
        </p:txBody>
      </p:sp>
    </p:spTree>
    <p:extLst>
      <p:ext uri="{BB962C8B-B14F-4D97-AF65-F5344CB8AC3E}">
        <p14:creationId xmlns:p14="http://schemas.microsoft.com/office/powerpoint/2010/main" val="2842410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560911-8D12-FF4B-F355-51B56C0F6F25}"/>
              </a:ext>
            </a:extLst>
          </p:cNvPr>
          <p:cNvSpPr>
            <a:spLocks noGrp="1"/>
          </p:cNvSpPr>
          <p:nvPr>
            <p:ph type="dt" sz="half" idx="10"/>
          </p:nvPr>
        </p:nvSpPr>
        <p:spPr/>
        <p:txBody>
          <a:bodyPr/>
          <a:lstStyle/>
          <a:p>
            <a:fld id="{E0431E7A-7697-42CE-B377-997E4136EAC5}" type="datetimeFigureOut">
              <a:rPr lang="en-SG" smtClean="0"/>
              <a:t>27/6/2026</a:t>
            </a:fld>
            <a:endParaRPr lang="en-SG"/>
          </a:p>
        </p:txBody>
      </p:sp>
      <p:sp>
        <p:nvSpPr>
          <p:cNvPr id="3" name="Footer Placeholder 2">
            <a:extLst>
              <a:ext uri="{FF2B5EF4-FFF2-40B4-BE49-F238E27FC236}">
                <a16:creationId xmlns:a16="http://schemas.microsoft.com/office/drawing/2014/main" id="{73128697-BCAC-F839-41C5-885FEAA6A9CB}"/>
              </a:ext>
            </a:extLst>
          </p:cNvPr>
          <p:cNvSpPr>
            <a:spLocks noGrp="1"/>
          </p:cNvSpPr>
          <p:nvPr>
            <p:ph type="ftr" sz="quarter" idx="11"/>
          </p:nvPr>
        </p:nvSpPr>
        <p:spPr/>
        <p:txBody>
          <a:bodyPr/>
          <a:lstStyle/>
          <a:p>
            <a:endParaRPr lang="en-SG"/>
          </a:p>
        </p:txBody>
      </p:sp>
      <p:sp>
        <p:nvSpPr>
          <p:cNvPr id="4" name="Slide Number Placeholder 3">
            <a:extLst>
              <a:ext uri="{FF2B5EF4-FFF2-40B4-BE49-F238E27FC236}">
                <a16:creationId xmlns:a16="http://schemas.microsoft.com/office/drawing/2014/main" id="{BBA4E79B-6DFF-096A-857A-B5C34B7D48DE}"/>
              </a:ext>
            </a:extLst>
          </p:cNvPr>
          <p:cNvSpPr>
            <a:spLocks noGrp="1"/>
          </p:cNvSpPr>
          <p:nvPr>
            <p:ph type="sldNum" sz="quarter" idx="12"/>
          </p:nvPr>
        </p:nvSpPr>
        <p:spPr/>
        <p:txBody>
          <a:bodyPr/>
          <a:lstStyle/>
          <a:p>
            <a:fld id="{4CE4B9DD-11E7-4714-9560-B05D53523474}" type="slidenum">
              <a:rPr lang="en-SG" smtClean="0"/>
              <a:t>‹#›</a:t>
            </a:fld>
            <a:endParaRPr lang="en-SG"/>
          </a:p>
        </p:txBody>
      </p:sp>
    </p:spTree>
    <p:extLst>
      <p:ext uri="{BB962C8B-B14F-4D97-AF65-F5344CB8AC3E}">
        <p14:creationId xmlns:p14="http://schemas.microsoft.com/office/powerpoint/2010/main" val="4287773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77A18-1195-AD81-DC70-58166E2818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Content Placeholder 2">
            <a:extLst>
              <a:ext uri="{FF2B5EF4-FFF2-40B4-BE49-F238E27FC236}">
                <a16:creationId xmlns:a16="http://schemas.microsoft.com/office/drawing/2014/main" id="{CD38E027-E23B-6BBF-56A5-CCA44FEAF9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a:extLst>
              <a:ext uri="{FF2B5EF4-FFF2-40B4-BE49-F238E27FC236}">
                <a16:creationId xmlns:a16="http://schemas.microsoft.com/office/drawing/2014/main" id="{0428D127-062E-401B-CF56-A0F1E026AE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1D8E8A-9964-2961-A635-B8A4FDBBE90A}"/>
              </a:ext>
            </a:extLst>
          </p:cNvPr>
          <p:cNvSpPr>
            <a:spLocks noGrp="1"/>
          </p:cNvSpPr>
          <p:nvPr>
            <p:ph type="dt" sz="half" idx="10"/>
          </p:nvPr>
        </p:nvSpPr>
        <p:spPr/>
        <p:txBody>
          <a:bodyPr/>
          <a:lstStyle/>
          <a:p>
            <a:fld id="{E0431E7A-7697-42CE-B377-997E4136EAC5}" type="datetimeFigureOut">
              <a:rPr lang="en-SG" smtClean="0"/>
              <a:t>27/6/2026</a:t>
            </a:fld>
            <a:endParaRPr lang="en-SG"/>
          </a:p>
        </p:txBody>
      </p:sp>
      <p:sp>
        <p:nvSpPr>
          <p:cNvPr id="6" name="Footer Placeholder 5">
            <a:extLst>
              <a:ext uri="{FF2B5EF4-FFF2-40B4-BE49-F238E27FC236}">
                <a16:creationId xmlns:a16="http://schemas.microsoft.com/office/drawing/2014/main" id="{8EBDA4B7-3782-46BB-93F0-F904B51AA04B}"/>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5D3AF470-62B5-A1D9-99D7-9A79A8EA36F5}"/>
              </a:ext>
            </a:extLst>
          </p:cNvPr>
          <p:cNvSpPr>
            <a:spLocks noGrp="1"/>
          </p:cNvSpPr>
          <p:nvPr>
            <p:ph type="sldNum" sz="quarter" idx="12"/>
          </p:nvPr>
        </p:nvSpPr>
        <p:spPr/>
        <p:txBody>
          <a:bodyPr/>
          <a:lstStyle/>
          <a:p>
            <a:fld id="{4CE4B9DD-11E7-4714-9560-B05D53523474}" type="slidenum">
              <a:rPr lang="en-SG" smtClean="0"/>
              <a:t>‹#›</a:t>
            </a:fld>
            <a:endParaRPr lang="en-SG"/>
          </a:p>
        </p:txBody>
      </p:sp>
    </p:spTree>
    <p:extLst>
      <p:ext uri="{BB962C8B-B14F-4D97-AF65-F5344CB8AC3E}">
        <p14:creationId xmlns:p14="http://schemas.microsoft.com/office/powerpoint/2010/main" val="18848099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E7904-2FA9-5AC3-5B4F-5B01F48FE8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SG"/>
          </a:p>
        </p:txBody>
      </p:sp>
      <p:sp>
        <p:nvSpPr>
          <p:cNvPr id="3" name="Picture Placeholder 2">
            <a:extLst>
              <a:ext uri="{FF2B5EF4-FFF2-40B4-BE49-F238E27FC236}">
                <a16:creationId xmlns:a16="http://schemas.microsoft.com/office/drawing/2014/main" id="{5D551F53-0E91-703B-3EC0-3F2C4213D7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SG"/>
          </a:p>
        </p:txBody>
      </p:sp>
      <p:sp>
        <p:nvSpPr>
          <p:cNvPr id="4" name="Text Placeholder 3">
            <a:extLst>
              <a:ext uri="{FF2B5EF4-FFF2-40B4-BE49-F238E27FC236}">
                <a16:creationId xmlns:a16="http://schemas.microsoft.com/office/drawing/2014/main" id="{740E5A1D-2640-364A-9E3E-9AA7B7C4C8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5FBFC61-D3B4-4407-B098-292A4618DAC9}"/>
              </a:ext>
            </a:extLst>
          </p:cNvPr>
          <p:cNvSpPr>
            <a:spLocks noGrp="1"/>
          </p:cNvSpPr>
          <p:nvPr>
            <p:ph type="dt" sz="half" idx="10"/>
          </p:nvPr>
        </p:nvSpPr>
        <p:spPr/>
        <p:txBody>
          <a:bodyPr/>
          <a:lstStyle/>
          <a:p>
            <a:fld id="{E0431E7A-7697-42CE-B377-997E4136EAC5}" type="datetimeFigureOut">
              <a:rPr lang="en-SG" smtClean="0"/>
              <a:t>27/6/2026</a:t>
            </a:fld>
            <a:endParaRPr lang="en-SG"/>
          </a:p>
        </p:txBody>
      </p:sp>
      <p:sp>
        <p:nvSpPr>
          <p:cNvPr id="6" name="Footer Placeholder 5">
            <a:extLst>
              <a:ext uri="{FF2B5EF4-FFF2-40B4-BE49-F238E27FC236}">
                <a16:creationId xmlns:a16="http://schemas.microsoft.com/office/drawing/2014/main" id="{938E9B98-ABE0-0B20-F5F5-3C48ABA9C87F}"/>
              </a:ext>
            </a:extLst>
          </p:cNvPr>
          <p:cNvSpPr>
            <a:spLocks noGrp="1"/>
          </p:cNvSpPr>
          <p:nvPr>
            <p:ph type="ftr" sz="quarter" idx="11"/>
          </p:nvPr>
        </p:nvSpPr>
        <p:spPr/>
        <p:txBody>
          <a:bodyPr/>
          <a:lstStyle/>
          <a:p>
            <a:endParaRPr lang="en-SG"/>
          </a:p>
        </p:txBody>
      </p:sp>
      <p:sp>
        <p:nvSpPr>
          <p:cNvPr id="7" name="Slide Number Placeholder 6">
            <a:extLst>
              <a:ext uri="{FF2B5EF4-FFF2-40B4-BE49-F238E27FC236}">
                <a16:creationId xmlns:a16="http://schemas.microsoft.com/office/drawing/2014/main" id="{8A89C80F-BE6D-F5A5-CC25-2CE6A7F2C9B3}"/>
              </a:ext>
            </a:extLst>
          </p:cNvPr>
          <p:cNvSpPr>
            <a:spLocks noGrp="1"/>
          </p:cNvSpPr>
          <p:nvPr>
            <p:ph type="sldNum" sz="quarter" idx="12"/>
          </p:nvPr>
        </p:nvSpPr>
        <p:spPr/>
        <p:txBody>
          <a:bodyPr/>
          <a:lstStyle/>
          <a:p>
            <a:fld id="{4CE4B9DD-11E7-4714-9560-B05D53523474}" type="slidenum">
              <a:rPr lang="en-SG" smtClean="0"/>
              <a:t>‹#›</a:t>
            </a:fld>
            <a:endParaRPr lang="en-SG"/>
          </a:p>
        </p:txBody>
      </p:sp>
    </p:spTree>
    <p:extLst>
      <p:ext uri="{BB962C8B-B14F-4D97-AF65-F5344CB8AC3E}">
        <p14:creationId xmlns:p14="http://schemas.microsoft.com/office/powerpoint/2010/main" val="3185697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6469A-4DF2-D209-FBF5-E019A0AA3603}"/>
              </a:ext>
            </a:extLst>
          </p:cNvPr>
          <p:cNvSpPr>
            <a:spLocks noGrp="1"/>
          </p:cNvSpPr>
          <p:nvPr>
            <p:ph type="title"/>
          </p:nvPr>
        </p:nvSpPr>
        <p:spPr/>
        <p:txBody>
          <a:bodyPr/>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C57DCE26-CE71-83FB-9DE7-00CCFB6E56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693675F0-7CDA-0F2C-EDB6-4C6E8AB6A81B}"/>
              </a:ext>
            </a:extLst>
          </p:cNvPr>
          <p:cNvSpPr>
            <a:spLocks noGrp="1"/>
          </p:cNvSpPr>
          <p:nvPr>
            <p:ph type="dt" sz="half" idx="10"/>
          </p:nvPr>
        </p:nvSpPr>
        <p:spPr/>
        <p:txBody>
          <a:bodyPr/>
          <a:lstStyle/>
          <a:p>
            <a:fld id="{E0431E7A-7697-42CE-B377-997E4136EAC5}" type="datetimeFigureOut">
              <a:rPr lang="en-SG" smtClean="0"/>
              <a:t>27/6/2026</a:t>
            </a:fld>
            <a:endParaRPr lang="en-SG"/>
          </a:p>
        </p:txBody>
      </p:sp>
      <p:sp>
        <p:nvSpPr>
          <p:cNvPr id="5" name="Footer Placeholder 4">
            <a:extLst>
              <a:ext uri="{FF2B5EF4-FFF2-40B4-BE49-F238E27FC236}">
                <a16:creationId xmlns:a16="http://schemas.microsoft.com/office/drawing/2014/main" id="{9895F5CE-9A9E-4158-65BC-BB88C50F63D3}"/>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928E10CB-6631-BF6A-11CF-A10A56F5EBDF}"/>
              </a:ext>
            </a:extLst>
          </p:cNvPr>
          <p:cNvSpPr>
            <a:spLocks noGrp="1"/>
          </p:cNvSpPr>
          <p:nvPr>
            <p:ph type="sldNum" sz="quarter" idx="12"/>
          </p:nvPr>
        </p:nvSpPr>
        <p:spPr/>
        <p:txBody>
          <a:bodyPr/>
          <a:lstStyle/>
          <a:p>
            <a:fld id="{4CE4B9DD-11E7-4714-9560-B05D53523474}" type="slidenum">
              <a:rPr lang="en-SG" smtClean="0"/>
              <a:t>‹#›</a:t>
            </a:fld>
            <a:endParaRPr lang="en-SG"/>
          </a:p>
        </p:txBody>
      </p:sp>
    </p:spTree>
    <p:extLst>
      <p:ext uri="{BB962C8B-B14F-4D97-AF65-F5344CB8AC3E}">
        <p14:creationId xmlns:p14="http://schemas.microsoft.com/office/powerpoint/2010/main" val="1834729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906685-9CFF-F63C-52DB-71AD0397C3C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SG"/>
          </a:p>
        </p:txBody>
      </p:sp>
      <p:sp>
        <p:nvSpPr>
          <p:cNvPr id="3" name="Vertical Text Placeholder 2">
            <a:extLst>
              <a:ext uri="{FF2B5EF4-FFF2-40B4-BE49-F238E27FC236}">
                <a16:creationId xmlns:a16="http://schemas.microsoft.com/office/drawing/2014/main" id="{CA85610F-C7C9-4996-6179-42B069708B8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10C19B5F-8AB7-7654-B90F-291133F63C4E}"/>
              </a:ext>
            </a:extLst>
          </p:cNvPr>
          <p:cNvSpPr>
            <a:spLocks noGrp="1"/>
          </p:cNvSpPr>
          <p:nvPr>
            <p:ph type="dt" sz="half" idx="10"/>
          </p:nvPr>
        </p:nvSpPr>
        <p:spPr/>
        <p:txBody>
          <a:bodyPr/>
          <a:lstStyle/>
          <a:p>
            <a:fld id="{E0431E7A-7697-42CE-B377-997E4136EAC5}" type="datetimeFigureOut">
              <a:rPr lang="en-SG" smtClean="0"/>
              <a:t>27/6/2026</a:t>
            </a:fld>
            <a:endParaRPr lang="en-SG"/>
          </a:p>
        </p:txBody>
      </p:sp>
      <p:sp>
        <p:nvSpPr>
          <p:cNvPr id="5" name="Footer Placeholder 4">
            <a:extLst>
              <a:ext uri="{FF2B5EF4-FFF2-40B4-BE49-F238E27FC236}">
                <a16:creationId xmlns:a16="http://schemas.microsoft.com/office/drawing/2014/main" id="{4A2F56F0-330C-F625-5810-A43E017DDC9E}"/>
              </a:ext>
            </a:extLst>
          </p:cNvPr>
          <p:cNvSpPr>
            <a:spLocks noGrp="1"/>
          </p:cNvSpPr>
          <p:nvPr>
            <p:ph type="ftr" sz="quarter" idx="11"/>
          </p:nvPr>
        </p:nvSpPr>
        <p:spPr/>
        <p:txBody>
          <a:bodyPr/>
          <a:lstStyle/>
          <a:p>
            <a:endParaRPr lang="en-SG"/>
          </a:p>
        </p:txBody>
      </p:sp>
      <p:sp>
        <p:nvSpPr>
          <p:cNvPr id="6" name="Slide Number Placeholder 5">
            <a:extLst>
              <a:ext uri="{FF2B5EF4-FFF2-40B4-BE49-F238E27FC236}">
                <a16:creationId xmlns:a16="http://schemas.microsoft.com/office/drawing/2014/main" id="{DCFBE020-4CA6-C9F2-4777-2FFEDA25427A}"/>
              </a:ext>
            </a:extLst>
          </p:cNvPr>
          <p:cNvSpPr>
            <a:spLocks noGrp="1"/>
          </p:cNvSpPr>
          <p:nvPr>
            <p:ph type="sldNum" sz="quarter" idx="12"/>
          </p:nvPr>
        </p:nvSpPr>
        <p:spPr/>
        <p:txBody>
          <a:bodyPr/>
          <a:lstStyle/>
          <a:p>
            <a:fld id="{4CE4B9DD-11E7-4714-9560-B05D53523474}" type="slidenum">
              <a:rPr lang="en-SG" smtClean="0"/>
              <a:t>‹#›</a:t>
            </a:fld>
            <a:endParaRPr lang="en-SG"/>
          </a:p>
        </p:txBody>
      </p:sp>
    </p:spTree>
    <p:extLst>
      <p:ext uri="{BB962C8B-B14F-4D97-AF65-F5344CB8AC3E}">
        <p14:creationId xmlns:p14="http://schemas.microsoft.com/office/powerpoint/2010/main" val="33356403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8F82D1-B69B-16FF-0D34-A11C4E56C1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F46F8843-577E-3F3E-CA31-322C56536E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a:extLst>
              <a:ext uri="{FF2B5EF4-FFF2-40B4-BE49-F238E27FC236}">
                <a16:creationId xmlns:a16="http://schemas.microsoft.com/office/drawing/2014/main" id="{06DE0A25-A738-B027-C75F-A926C3AB78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431E7A-7697-42CE-B377-997E4136EAC5}" type="datetimeFigureOut">
              <a:rPr lang="en-SG" smtClean="0"/>
              <a:t>27/6/2026</a:t>
            </a:fld>
            <a:endParaRPr lang="en-SG"/>
          </a:p>
        </p:txBody>
      </p:sp>
      <p:sp>
        <p:nvSpPr>
          <p:cNvPr id="5" name="Footer Placeholder 4">
            <a:extLst>
              <a:ext uri="{FF2B5EF4-FFF2-40B4-BE49-F238E27FC236}">
                <a16:creationId xmlns:a16="http://schemas.microsoft.com/office/drawing/2014/main" id="{7C52763A-3FA1-279A-1A1B-934CDC2C349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SG"/>
          </a:p>
        </p:txBody>
      </p:sp>
      <p:sp>
        <p:nvSpPr>
          <p:cNvPr id="6" name="Slide Number Placeholder 5">
            <a:extLst>
              <a:ext uri="{FF2B5EF4-FFF2-40B4-BE49-F238E27FC236}">
                <a16:creationId xmlns:a16="http://schemas.microsoft.com/office/drawing/2014/main" id="{CFE37899-9451-3E91-84EA-D5029BA249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E4B9DD-11E7-4714-9560-B05D53523474}" type="slidenum">
              <a:rPr lang="en-SG" smtClean="0"/>
              <a:t>‹#›</a:t>
            </a:fld>
            <a:endParaRPr lang="en-SG"/>
          </a:p>
        </p:txBody>
      </p:sp>
    </p:spTree>
    <p:extLst>
      <p:ext uri="{BB962C8B-B14F-4D97-AF65-F5344CB8AC3E}">
        <p14:creationId xmlns:p14="http://schemas.microsoft.com/office/powerpoint/2010/main" val="23493402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7F4C7-025C-1F65-9CF2-792B13C721C0}"/>
              </a:ext>
            </a:extLst>
          </p:cNvPr>
          <p:cNvSpPr>
            <a:spLocks noGrp="1"/>
          </p:cNvSpPr>
          <p:nvPr>
            <p:ph type="ctrTitle"/>
          </p:nvPr>
        </p:nvSpPr>
        <p:spPr>
          <a:xfrm>
            <a:off x="1524000" y="1122363"/>
            <a:ext cx="9144000" cy="1439862"/>
          </a:xfrm>
        </p:spPr>
        <p:txBody>
          <a:bodyPr>
            <a:normAutofit fontScale="90000"/>
          </a:bodyPr>
          <a:lstStyle/>
          <a:p>
            <a:r>
              <a:rPr lang="en-US" b="1" dirty="0"/>
              <a:t>Build Production-Ready AI Agents Using Python</a:t>
            </a:r>
            <a:endParaRPr lang="en-SG" b="1" dirty="0"/>
          </a:p>
        </p:txBody>
      </p:sp>
      <p:sp>
        <p:nvSpPr>
          <p:cNvPr id="8" name="TextBox 7">
            <a:extLst>
              <a:ext uri="{FF2B5EF4-FFF2-40B4-BE49-F238E27FC236}">
                <a16:creationId xmlns:a16="http://schemas.microsoft.com/office/drawing/2014/main" id="{832D963B-2B92-4259-8F0F-28D518201571}"/>
              </a:ext>
            </a:extLst>
          </p:cNvPr>
          <p:cNvSpPr txBox="1"/>
          <p:nvPr/>
        </p:nvSpPr>
        <p:spPr>
          <a:xfrm>
            <a:off x="1524000" y="5844619"/>
            <a:ext cx="3830425" cy="1200329"/>
          </a:xfrm>
          <a:prstGeom prst="rect">
            <a:avLst/>
          </a:prstGeom>
          <a:noFill/>
        </p:spPr>
        <p:txBody>
          <a:bodyPr wrap="square" rtlCol="0">
            <a:spAutoFit/>
          </a:bodyPr>
          <a:lstStyle/>
          <a:p>
            <a:r>
              <a:rPr lang="en-US" b="1" dirty="0"/>
              <a:t>  Date:</a:t>
            </a:r>
            <a:r>
              <a:rPr lang="en-US" dirty="0"/>
              <a:t> 4 July 2026</a:t>
            </a:r>
          </a:p>
          <a:p>
            <a:r>
              <a:rPr lang="en-US" dirty="0"/>
              <a:t>🕕 </a:t>
            </a:r>
            <a:r>
              <a:rPr lang="en-US" b="1" dirty="0"/>
              <a:t>Time:</a:t>
            </a:r>
            <a:r>
              <a:rPr lang="en-US" dirty="0"/>
              <a:t> 6:00 PM – 10:00 PM</a:t>
            </a:r>
          </a:p>
          <a:p>
            <a:r>
              <a:rPr lang="en-US" dirty="0"/>
              <a:t>💻 </a:t>
            </a:r>
            <a:r>
              <a:rPr lang="en-US" b="1" dirty="0"/>
              <a:t>Mode:</a:t>
            </a:r>
            <a:r>
              <a:rPr lang="en-US" dirty="0"/>
              <a:t> Live Online Workshop</a:t>
            </a:r>
          </a:p>
          <a:p>
            <a:endParaRPr lang="en-SG" dirty="0"/>
          </a:p>
        </p:txBody>
      </p:sp>
      <p:sp>
        <p:nvSpPr>
          <p:cNvPr id="9" name="TextBox 8">
            <a:extLst>
              <a:ext uri="{FF2B5EF4-FFF2-40B4-BE49-F238E27FC236}">
                <a16:creationId xmlns:a16="http://schemas.microsoft.com/office/drawing/2014/main" id="{FA74C3A7-9E5B-A46B-D90F-CEBB11DF2E62}"/>
              </a:ext>
            </a:extLst>
          </p:cNvPr>
          <p:cNvSpPr txBox="1"/>
          <p:nvPr/>
        </p:nvSpPr>
        <p:spPr>
          <a:xfrm>
            <a:off x="4962525" y="2743200"/>
            <a:ext cx="1057275" cy="369332"/>
          </a:xfrm>
          <a:prstGeom prst="rect">
            <a:avLst/>
          </a:prstGeom>
          <a:noFill/>
        </p:spPr>
        <p:txBody>
          <a:bodyPr wrap="square" rtlCol="0">
            <a:spAutoFit/>
          </a:bodyPr>
          <a:lstStyle/>
          <a:p>
            <a:r>
              <a:rPr lang="en-SG" dirty="0"/>
              <a:t>AI Agent</a:t>
            </a:r>
          </a:p>
        </p:txBody>
      </p:sp>
      <p:cxnSp>
        <p:nvCxnSpPr>
          <p:cNvPr id="11" name="Straight Arrow Connector 10">
            <a:extLst>
              <a:ext uri="{FF2B5EF4-FFF2-40B4-BE49-F238E27FC236}">
                <a16:creationId xmlns:a16="http://schemas.microsoft.com/office/drawing/2014/main" id="{2425E884-8061-0E9E-7CD1-07480A9847D0}"/>
              </a:ext>
            </a:extLst>
          </p:cNvPr>
          <p:cNvCxnSpPr>
            <a:stCxn id="9" idx="2"/>
          </p:cNvCxnSpPr>
          <p:nvPr/>
        </p:nvCxnSpPr>
        <p:spPr>
          <a:xfrm flipH="1">
            <a:off x="5476875" y="3112532"/>
            <a:ext cx="14288" cy="5069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F82E05F-EAD0-CFE8-6604-85792DC5D109}"/>
              </a:ext>
            </a:extLst>
          </p:cNvPr>
          <p:cNvSpPr txBox="1"/>
          <p:nvPr/>
        </p:nvSpPr>
        <p:spPr>
          <a:xfrm>
            <a:off x="4962525" y="3724275"/>
            <a:ext cx="1504949" cy="369332"/>
          </a:xfrm>
          <a:prstGeom prst="rect">
            <a:avLst/>
          </a:prstGeom>
          <a:noFill/>
        </p:spPr>
        <p:txBody>
          <a:bodyPr wrap="square" rtlCol="0">
            <a:spAutoFit/>
          </a:bodyPr>
          <a:lstStyle/>
          <a:p>
            <a:r>
              <a:rPr lang="en-SG" dirty="0"/>
              <a:t>LLM (Brain)</a:t>
            </a:r>
          </a:p>
        </p:txBody>
      </p:sp>
      <p:cxnSp>
        <p:nvCxnSpPr>
          <p:cNvPr id="14" name="Straight Arrow Connector 13">
            <a:extLst>
              <a:ext uri="{FF2B5EF4-FFF2-40B4-BE49-F238E27FC236}">
                <a16:creationId xmlns:a16="http://schemas.microsoft.com/office/drawing/2014/main" id="{C1E607EE-0BFD-584D-21F0-B673BBBF094A}"/>
              </a:ext>
            </a:extLst>
          </p:cNvPr>
          <p:cNvCxnSpPr/>
          <p:nvPr/>
        </p:nvCxnSpPr>
        <p:spPr>
          <a:xfrm>
            <a:off x="5491163" y="4093607"/>
            <a:ext cx="0" cy="4212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A10D993-8D24-3CC9-E9C4-A9CE4D53C942}"/>
              </a:ext>
            </a:extLst>
          </p:cNvPr>
          <p:cNvSpPr txBox="1"/>
          <p:nvPr/>
        </p:nvSpPr>
        <p:spPr>
          <a:xfrm>
            <a:off x="4362450" y="4695825"/>
            <a:ext cx="2171700" cy="369332"/>
          </a:xfrm>
          <a:prstGeom prst="rect">
            <a:avLst/>
          </a:prstGeom>
          <a:noFill/>
        </p:spPr>
        <p:txBody>
          <a:bodyPr wrap="square" rtlCol="0">
            <a:spAutoFit/>
          </a:bodyPr>
          <a:lstStyle/>
          <a:p>
            <a:r>
              <a:rPr lang="en-SG"/>
              <a:t>Memory + 🛠️ Tools</a:t>
            </a:r>
            <a:endParaRPr lang="en-SG" dirty="0"/>
          </a:p>
        </p:txBody>
      </p:sp>
      <p:cxnSp>
        <p:nvCxnSpPr>
          <p:cNvPr id="17" name="Straight Arrow Connector 16">
            <a:extLst>
              <a:ext uri="{FF2B5EF4-FFF2-40B4-BE49-F238E27FC236}">
                <a16:creationId xmlns:a16="http://schemas.microsoft.com/office/drawing/2014/main" id="{DF583B4D-B8E6-EAD3-6974-82C15BACFD5D}"/>
              </a:ext>
            </a:extLst>
          </p:cNvPr>
          <p:cNvCxnSpPr/>
          <p:nvPr/>
        </p:nvCxnSpPr>
        <p:spPr>
          <a:xfrm>
            <a:off x="5476875" y="5162550"/>
            <a:ext cx="0" cy="228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94D5FB6-80A9-6ADA-B4F2-0ADB27E380E6}"/>
              </a:ext>
            </a:extLst>
          </p:cNvPr>
          <p:cNvSpPr txBox="1"/>
          <p:nvPr/>
        </p:nvSpPr>
        <p:spPr>
          <a:xfrm>
            <a:off x="4495801" y="5543550"/>
            <a:ext cx="2105024" cy="369332"/>
          </a:xfrm>
          <a:prstGeom prst="rect">
            <a:avLst/>
          </a:prstGeom>
          <a:noFill/>
        </p:spPr>
        <p:txBody>
          <a:bodyPr wrap="square" rtlCol="0">
            <a:spAutoFit/>
          </a:bodyPr>
          <a:lstStyle/>
          <a:p>
            <a:r>
              <a:rPr lang="en-SG" dirty="0"/>
              <a:t>Intelligent Decisions</a:t>
            </a:r>
          </a:p>
        </p:txBody>
      </p:sp>
    </p:spTree>
    <p:extLst>
      <p:ext uri="{BB962C8B-B14F-4D97-AF65-F5344CB8AC3E}">
        <p14:creationId xmlns:p14="http://schemas.microsoft.com/office/powerpoint/2010/main" val="40149794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76EFB-2F2B-3DE7-6350-BC8223A0020A}"/>
              </a:ext>
            </a:extLst>
          </p:cNvPr>
          <p:cNvSpPr>
            <a:spLocks noGrp="1"/>
          </p:cNvSpPr>
          <p:nvPr>
            <p:ph type="title"/>
          </p:nvPr>
        </p:nvSpPr>
        <p:spPr/>
        <p:txBody>
          <a:bodyPr/>
          <a:lstStyle/>
          <a:p>
            <a:r>
              <a:rPr lang="en-SG" b="1" dirty="0">
                <a:solidFill>
                  <a:schemeClr val="accent1">
                    <a:lumMod val="60000"/>
                    <a:lumOff val="40000"/>
                  </a:schemeClr>
                </a:solidFill>
              </a:rPr>
              <a:t>About the Trainer</a:t>
            </a:r>
          </a:p>
        </p:txBody>
      </p:sp>
      <p:sp>
        <p:nvSpPr>
          <p:cNvPr id="3" name="Content Placeholder 2">
            <a:extLst>
              <a:ext uri="{FF2B5EF4-FFF2-40B4-BE49-F238E27FC236}">
                <a16:creationId xmlns:a16="http://schemas.microsoft.com/office/drawing/2014/main" id="{E8BC2AB9-9858-1D60-050B-C0971B4EF183}"/>
              </a:ext>
            </a:extLst>
          </p:cNvPr>
          <p:cNvSpPr>
            <a:spLocks noGrp="1"/>
          </p:cNvSpPr>
          <p:nvPr>
            <p:ph idx="1"/>
          </p:nvPr>
        </p:nvSpPr>
        <p:spPr>
          <a:xfrm>
            <a:off x="838200" y="1825625"/>
            <a:ext cx="6944139" cy="4351338"/>
          </a:xfrm>
        </p:spPr>
        <p:txBody>
          <a:bodyPr/>
          <a:lstStyle/>
          <a:p>
            <a:pPr marL="0" indent="0">
              <a:buNone/>
            </a:pPr>
            <a:r>
              <a:rPr lang="en-US" b="1" dirty="0"/>
              <a:t>Prabakaran</a:t>
            </a:r>
            <a:endParaRPr lang="en-US" dirty="0"/>
          </a:p>
          <a:p>
            <a:pPr>
              <a:buFont typeface="Wingdings" panose="05000000000000000000" pitchFamily="2" charset="2"/>
              <a:buChar char="ü"/>
            </a:pPr>
            <a:r>
              <a:rPr lang="en-US" dirty="0"/>
              <a:t>Founder – Teltam.in</a:t>
            </a:r>
          </a:p>
          <a:p>
            <a:pPr>
              <a:buFont typeface="Wingdings" panose="05000000000000000000" pitchFamily="2" charset="2"/>
              <a:buChar char="ü"/>
            </a:pPr>
            <a:r>
              <a:rPr lang="en-US" dirty="0"/>
              <a:t>18+ Years of IT Industry Experience</a:t>
            </a:r>
          </a:p>
          <a:p>
            <a:pPr>
              <a:buFont typeface="Wingdings" panose="05000000000000000000" pitchFamily="2" charset="2"/>
              <a:buChar char="ü"/>
            </a:pPr>
            <a:r>
              <a:rPr lang="en-US" dirty="0"/>
              <a:t>AI Trainer | Data Engineering | AI Solutions</a:t>
            </a:r>
          </a:p>
          <a:p>
            <a:endParaRPr lang="en-SG" dirty="0"/>
          </a:p>
        </p:txBody>
      </p:sp>
      <p:sp>
        <p:nvSpPr>
          <p:cNvPr id="4" name="TextBox 3">
            <a:extLst>
              <a:ext uri="{FF2B5EF4-FFF2-40B4-BE49-F238E27FC236}">
                <a16:creationId xmlns:a16="http://schemas.microsoft.com/office/drawing/2014/main" id="{CCB93E53-2CA3-05C1-057E-0CA7131F9380}"/>
              </a:ext>
            </a:extLst>
          </p:cNvPr>
          <p:cNvSpPr txBox="1"/>
          <p:nvPr/>
        </p:nvSpPr>
        <p:spPr>
          <a:xfrm>
            <a:off x="8050696" y="1987826"/>
            <a:ext cx="3766930" cy="2308324"/>
          </a:xfrm>
          <a:prstGeom prst="rect">
            <a:avLst/>
          </a:prstGeom>
          <a:noFill/>
        </p:spPr>
        <p:txBody>
          <a:bodyPr wrap="square" rtlCol="0">
            <a:spAutoFit/>
          </a:bodyPr>
          <a:lstStyle/>
          <a:p>
            <a:r>
              <a:rPr lang="en-SG" b="1" dirty="0"/>
              <a:t>Expertise</a:t>
            </a:r>
          </a:p>
          <a:p>
            <a:r>
              <a:rPr lang="en-SG" dirty="0"/>
              <a:t>✅ Data Engineering</a:t>
            </a:r>
          </a:p>
          <a:p>
            <a:r>
              <a:rPr lang="en-SG" dirty="0"/>
              <a:t>✅ Artificial Intelligence</a:t>
            </a:r>
          </a:p>
          <a:p>
            <a:r>
              <a:rPr lang="en-SG" dirty="0"/>
              <a:t>✅ Agentic AI</a:t>
            </a:r>
          </a:p>
          <a:p>
            <a:r>
              <a:rPr lang="en-SG" dirty="0"/>
              <a:t>✅ Python Development</a:t>
            </a:r>
          </a:p>
          <a:p>
            <a:r>
              <a:rPr lang="en-SG" dirty="0"/>
              <a:t>✅ Cloud &amp; Big Data</a:t>
            </a:r>
          </a:p>
          <a:p>
            <a:r>
              <a:rPr lang="en-SG" dirty="0"/>
              <a:t>✅ AI Solution Architecture</a:t>
            </a:r>
          </a:p>
          <a:p>
            <a:endParaRPr lang="en-SG" dirty="0"/>
          </a:p>
        </p:txBody>
      </p:sp>
      <p:sp>
        <p:nvSpPr>
          <p:cNvPr id="5" name="TextBox 4">
            <a:extLst>
              <a:ext uri="{FF2B5EF4-FFF2-40B4-BE49-F238E27FC236}">
                <a16:creationId xmlns:a16="http://schemas.microsoft.com/office/drawing/2014/main" id="{76708C7C-BFD2-B583-1184-625BD069DB6B}"/>
              </a:ext>
            </a:extLst>
          </p:cNvPr>
          <p:cNvSpPr txBox="1"/>
          <p:nvPr/>
        </p:nvSpPr>
        <p:spPr>
          <a:xfrm>
            <a:off x="1152939" y="4870174"/>
            <a:ext cx="10200861" cy="923330"/>
          </a:xfrm>
          <a:prstGeom prst="rect">
            <a:avLst/>
          </a:prstGeom>
          <a:noFill/>
        </p:spPr>
        <p:txBody>
          <a:bodyPr wrap="square" rtlCol="0">
            <a:spAutoFit/>
          </a:bodyPr>
          <a:lstStyle/>
          <a:p>
            <a:r>
              <a:rPr lang="en-US" b="1" u="sng" dirty="0"/>
              <a:t>Mission</a:t>
            </a:r>
          </a:p>
          <a:p>
            <a:r>
              <a:rPr lang="en-US" b="1" dirty="0"/>
              <a:t>Helping Professionals and Students Build Practical AI Skills.</a:t>
            </a:r>
          </a:p>
          <a:p>
            <a:endParaRPr lang="en-SG" b="1" dirty="0"/>
          </a:p>
        </p:txBody>
      </p:sp>
    </p:spTree>
    <p:extLst>
      <p:ext uri="{BB962C8B-B14F-4D97-AF65-F5344CB8AC3E}">
        <p14:creationId xmlns:p14="http://schemas.microsoft.com/office/powerpoint/2010/main" val="1502298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A1601-BF4A-AF0A-DD46-348EA8EE2E57}"/>
              </a:ext>
            </a:extLst>
          </p:cNvPr>
          <p:cNvSpPr>
            <a:spLocks noGrp="1"/>
          </p:cNvSpPr>
          <p:nvPr>
            <p:ph type="title"/>
          </p:nvPr>
        </p:nvSpPr>
        <p:spPr>
          <a:xfrm>
            <a:off x="838200" y="365126"/>
            <a:ext cx="10515600" cy="1155562"/>
          </a:xfrm>
        </p:spPr>
        <p:txBody>
          <a:bodyPr>
            <a:normAutofit fontScale="90000"/>
          </a:bodyPr>
          <a:lstStyle/>
          <a:p>
            <a:r>
              <a:rPr lang="en-US" b="1" dirty="0"/>
              <a:t>Today's Journey</a:t>
            </a:r>
            <a:br>
              <a:rPr lang="en-US" b="1" dirty="0"/>
            </a:br>
            <a:r>
              <a:rPr lang="en-US" sz="2200" b="1" dirty="0"/>
              <a:t>Build Production-Ready AI Agents Step by Step</a:t>
            </a:r>
            <a:br>
              <a:rPr lang="en-US" b="1" dirty="0"/>
            </a:br>
            <a:endParaRPr lang="en-SG" dirty="0"/>
          </a:p>
        </p:txBody>
      </p:sp>
      <p:sp>
        <p:nvSpPr>
          <p:cNvPr id="5" name="TextBox 4">
            <a:extLst>
              <a:ext uri="{FF2B5EF4-FFF2-40B4-BE49-F238E27FC236}">
                <a16:creationId xmlns:a16="http://schemas.microsoft.com/office/drawing/2014/main" id="{E9162CA1-A2C5-C687-F667-460CC2C79058}"/>
              </a:ext>
            </a:extLst>
          </p:cNvPr>
          <p:cNvSpPr txBox="1"/>
          <p:nvPr/>
        </p:nvSpPr>
        <p:spPr>
          <a:xfrm>
            <a:off x="5257800" y="1361661"/>
            <a:ext cx="1580322" cy="377687"/>
          </a:xfrm>
          <a:prstGeom prst="rect">
            <a:avLst/>
          </a:prstGeom>
          <a:noFill/>
        </p:spPr>
        <p:txBody>
          <a:bodyPr wrap="square" rtlCol="0">
            <a:spAutoFit/>
          </a:bodyPr>
          <a:lstStyle/>
          <a:p>
            <a:r>
              <a:rPr lang="en-SG" b="1" dirty="0"/>
              <a:t>AI Agents</a:t>
            </a:r>
          </a:p>
        </p:txBody>
      </p:sp>
      <p:cxnSp>
        <p:nvCxnSpPr>
          <p:cNvPr id="7" name="Straight Arrow Connector 6">
            <a:extLst>
              <a:ext uri="{FF2B5EF4-FFF2-40B4-BE49-F238E27FC236}">
                <a16:creationId xmlns:a16="http://schemas.microsoft.com/office/drawing/2014/main" id="{B6CCFF27-E643-EAE6-4652-47A7A43665E5}"/>
              </a:ext>
            </a:extLst>
          </p:cNvPr>
          <p:cNvCxnSpPr/>
          <p:nvPr/>
        </p:nvCxnSpPr>
        <p:spPr>
          <a:xfrm>
            <a:off x="5764696" y="1818861"/>
            <a:ext cx="0" cy="3180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D9FE92F-BF5C-9036-FBFF-28D243D19B12}"/>
              </a:ext>
            </a:extLst>
          </p:cNvPr>
          <p:cNvSpPr txBox="1"/>
          <p:nvPr/>
        </p:nvSpPr>
        <p:spPr>
          <a:xfrm>
            <a:off x="5257799" y="2325757"/>
            <a:ext cx="2156787" cy="369332"/>
          </a:xfrm>
          <a:prstGeom prst="rect">
            <a:avLst/>
          </a:prstGeom>
          <a:noFill/>
        </p:spPr>
        <p:txBody>
          <a:bodyPr wrap="square" rtlCol="0">
            <a:spAutoFit/>
          </a:bodyPr>
          <a:lstStyle/>
          <a:p>
            <a:r>
              <a:rPr lang="en-SG" dirty="0"/>
              <a:t>LLM as the Brain</a:t>
            </a:r>
          </a:p>
        </p:txBody>
      </p:sp>
      <p:cxnSp>
        <p:nvCxnSpPr>
          <p:cNvPr id="10" name="Straight Arrow Connector 9">
            <a:extLst>
              <a:ext uri="{FF2B5EF4-FFF2-40B4-BE49-F238E27FC236}">
                <a16:creationId xmlns:a16="http://schemas.microsoft.com/office/drawing/2014/main" id="{CEBA651F-CA2B-1F6A-5E80-DD7135C0AD09}"/>
              </a:ext>
            </a:extLst>
          </p:cNvPr>
          <p:cNvCxnSpPr/>
          <p:nvPr/>
        </p:nvCxnSpPr>
        <p:spPr>
          <a:xfrm>
            <a:off x="5837583" y="2695089"/>
            <a:ext cx="0" cy="3379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94B3FAF-78C7-2837-2A44-FBB3594B2F18}"/>
              </a:ext>
            </a:extLst>
          </p:cNvPr>
          <p:cNvSpPr txBox="1"/>
          <p:nvPr/>
        </p:nvSpPr>
        <p:spPr>
          <a:xfrm>
            <a:off x="5257799" y="3210339"/>
            <a:ext cx="2226366" cy="369332"/>
          </a:xfrm>
          <a:prstGeom prst="rect">
            <a:avLst/>
          </a:prstGeom>
          <a:noFill/>
        </p:spPr>
        <p:txBody>
          <a:bodyPr wrap="square" rtlCol="0">
            <a:spAutoFit/>
          </a:bodyPr>
          <a:lstStyle/>
          <a:p>
            <a:r>
              <a:rPr lang="en-SG" dirty="0"/>
              <a:t>Prompt Engineering</a:t>
            </a:r>
          </a:p>
        </p:txBody>
      </p:sp>
      <p:cxnSp>
        <p:nvCxnSpPr>
          <p:cNvPr id="13" name="Straight Arrow Connector 12">
            <a:extLst>
              <a:ext uri="{FF2B5EF4-FFF2-40B4-BE49-F238E27FC236}">
                <a16:creationId xmlns:a16="http://schemas.microsoft.com/office/drawing/2014/main" id="{7C11BBF6-69CE-63CA-D017-C7D72A095CB1}"/>
              </a:ext>
            </a:extLst>
          </p:cNvPr>
          <p:cNvCxnSpPr/>
          <p:nvPr/>
        </p:nvCxnSpPr>
        <p:spPr>
          <a:xfrm>
            <a:off x="5933661" y="3617843"/>
            <a:ext cx="0" cy="2584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45A75F7-9016-4948-DAD2-40A3F8426098}"/>
              </a:ext>
            </a:extLst>
          </p:cNvPr>
          <p:cNvSpPr txBox="1"/>
          <p:nvPr/>
        </p:nvSpPr>
        <p:spPr>
          <a:xfrm>
            <a:off x="5257799" y="4065104"/>
            <a:ext cx="2156787" cy="369332"/>
          </a:xfrm>
          <a:prstGeom prst="rect">
            <a:avLst/>
          </a:prstGeom>
          <a:noFill/>
        </p:spPr>
        <p:txBody>
          <a:bodyPr wrap="square" rtlCol="0">
            <a:spAutoFit/>
          </a:bodyPr>
          <a:lstStyle/>
          <a:p>
            <a:r>
              <a:rPr lang="en-SG" dirty="0"/>
              <a:t>Build First AI Agent</a:t>
            </a:r>
          </a:p>
        </p:txBody>
      </p:sp>
      <p:cxnSp>
        <p:nvCxnSpPr>
          <p:cNvPr id="16" name="Straight Arrow Connector 15">
            <a:extLst>
              <a:ext uri="{FF2B5EF4-FFF2-40B4-BE49-F238E27FC236}">
                <a16:creationId xmlns:a16="http://schemas.microsoft.com/office/drawing/2014/main" id="{37D5B11B-B472-002D-FF6D-CEDE94E3CE26}"/>
              </a:ext>
            </a:extLst>
          </p:cNvPr>
          <p:cNvCxnSpPr/>
          <p:nvPr/>
        </p:nvCxnSpPr>
        <p:spPr>
          <a:xfrm>
            <a:off x="6096000" y="4434436"/>
            <a:ext cx="0" cy="4158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E83603D-CF95-F406-9BD2-50D17AD1FFAB}"/>
              </a:ext>
            </a:extLst>
          </p:cNvPr>
          <p:cNvSpPr txBox="1"/>
          <p:nvPr/>
        </p:nvSpPr>
        <p:spPr>
          <a:xfrm>
            <a:off x="5367129" y="4939748"/>
            <a:ext cx="2464906" cy="369332"/>
          </a:xfrm>
          <a:prstGeom prst="rect">
            <a:avLst/>
          </a:prstGeom>
          <a:noFill/>
        </p:spPr>
        <p:txBody>
          <a:bodyPr wrap="square" rtlCol="0">
            <a:spAutoFit/>
          </a:bodyPr>
          <a:lstStyle/>
          <a:p>
            <a:r>
              <a:rPr lang="en-SG" dirty="0" err="1"/>
              <a:t>LangChain</a:t>
            </a:r>
            <a:r>
              <a:rPr lang="en-SG" dirty="0"/>
              <a:t> Framework</a:t>
            </a:r>
          </a:p>
        </p:txBody>
      </p:sp>
      <p:cxnSp>
        <p:nvCxnSpPr>
          <p:cNvPr id="19" name="Straight Arrow Connector 18">
            <a:extLst>
              <a:ext uri="{FF2B5EF4-FFF2-40B4-BE49-F238E27FC236}">
                <a16:creationId xmlns:a16="http://schemas.microsoft.com/office/drawing/2014/main" id="{C29C96F4-165B-E4B8-D18D-438D41DF6A1C}"/>
              </a:ext>
            </a:extLst>
          </p:cNvPr>
          <p:cNvCxnSpPr/>
          <p:nvPr/>
        </p:nvCxnSpPr>
        <p:spPr>
          <a:xfrm>
            <a:off x="6361043" y="5387009"/>
            <a:ext cx="0" cy="2584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E497D346-0414-123E-FB5E-040E668E39E9}"/>
              </a:ext>
            </a:extLst>
          </p:cNvPr>
          <p:cNvSpPr txBox="1"/>
          <p:nvPr/>
        </p:nvSpPr>
        <p:spPr>
          <a:xfrm>
            <a:off x="5496339" y="5734878"/>
            <a:ext cx="2057399" cy="369332"/>
          </a:xfrm>
          <a:prstGeom prst="rect">
            <a:avLst/>
          </a:prstGeom>
          <a:noFill/>
        </p:spPr>
        <p:txBody>
          <a:bodyPr wrap="square" rtlCol="0">
            <a:spAutoFit/>
          </a:bodyPr>
          <a:lstStyle/>
          <a:p>
            <a:r>
              <a:rPr lang="en-SG" dirty="0"/>
              <a:t>Add Memory</a:t>
            </a:r>
          </a:p>
        </p:txBody>
      </p:sp>
      <p:cxnSp>
        <p:nvCxnSpPr>
          <p:cNvPr id="22" name="Straight Arrow Connector 21">
            <a:extLst>
              <a:ext uri="{FF2B5EF4-FFF2-40B4-BE49-F238E27FC236}">
                <a16:creationId xmlns:a16="http://schemas.microsoft.com/office/drawing/2014/main" id="{2E7B9C3A-6C3E-7B25-09A3-43207854939A}"/>
              </a:ext>
            </a:extLst>
          </p:cNvPr>
          <p:cNvCxnSpPr/>
          <p:nvPr/>
        </p:nvCxnSpPr>
        <p:spPr>
          <a:xfrm>
            <a:off x="7116417" y="5913783"/>
            <a:ext cx="10535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9377D102-820C-5425-150F-5E95C0812B1C}"/>
              </a:ext>
            </a:extLst>
          </p:cNvPr>
          <p:cNvSpPr txBox="1"/>
          <p:nvPr/>
        </p:nvSpPr>
        <p:spPr>
          <a:xfrm>
            <a:off x="8338930" y="5814391"/>
            <a:ext cx="3369366" cy="369332"/>
          </a:xfrm>
          <a:prstGeom prst="rect">
            <a:avLst/>
          </a:prstGeom>
          <a:noFill/>
        </p:spPr>
        <p:txBody>
          <a:bodyPr wrap="square" rtlCol="0">
            <a:spAutoFit/>
          </a:bodyPr>
          <a:lstStyle/>
          <a:p>
            <a:r>
              <a:rPr lang="en-SG" dirty="0"/>
              <a:t>MCP (Model Context Protocol)</a:t>
            </a:r>
          </a:p>
        </p:txBody>
      </p:sp>
      <p:cxnSp>
        <p:nvCxnSpPr>
          <p:cNvPr id="25" name="Straight Arrow Connector 24">
            <a:extLst>
              <a:ext uri="{FF2B5EF4-FFF2-40B4-BE49-F238E27FC236}">
                <a16:creationId xmlns:a16="http://schemas.microsoft.com/office/drawing/2014/main" id="{7B9CA303-4E16-354C-F365-54F9BC22CB64}"/>
              </a:ext>
            </a:extLst>
          </p:cNvPr>
          <p:cNvCxnSpPr/>
          <p:nvPr/>
        </p:nvCxnSpPr>
        <p:spPr>
          <a:xfrm>
            <a:off x="9471991" y="6183723"/>
            <a:ext cx="0" cy="2071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D944F934-0579-06CC-FC14-A7399D7107CC}"/>
              </a:ext>
            </a:extLst>
          </p:cNvPr>
          <p:cNvSpPr txBox="1"/>
          <p:nvPr/>
        </p:nvSpPr>
        <p:spPr>
          <a:xfrm>
            <a:off x="8428383" y="6390861"/>
            <a:ext cx="3001617" cy="369332"/>
          </a:xfrm>
          <a:prstGeom prst="rect">
            <a:avLst/>
          </a:prstGeom>
          <a:noFill/>
        </p:spPr>
        <p:txBody>
          <a:bodyPr wrap="square" rtlCol="0">
            <a:spAutoFit/>
          </a:bodyPr>
          <a:lstStyle/>
          <a:p>
            <a:r>
              <a:rPr lang="en-SG" dirty="0"/>
              <a:t>Connect External Tools</a:t>
            </a:r>
          </a:p>
        </p:txBody>
      </p:sp>
      <p:cxnSp>
        <p:nvCxnSpPr>
          <p:cNvPr id="28" name="Straight Arrow Connector 27">
            <a:extLst>
              <a:ext uri="{FF2B5EF4-FFF2-40B4-BE49-F238E27FC236}">
                <a16:creationId xmlns:a16="http://schemas.microsoft.com/office/drawing/2014/main" id="{1C42FE71-5C0F-52E3-9A2F-B5C466ABE2AF}"/>
              </a:ext>
            </a:extLst>
          </p:cNvPr>
          <p:cNvCxnSpPr/>
          <p:nvPr/>
        </p:nvCxnSpPr>
        <p:spPr>
          <a:xfrm flipH="1">
            <a:off x="7335078" y="6520070"/>
            <a:ext cx="83488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80EA1717-DFE6-FC66-60BE-A3698DA00704}"/>
              </a:ext>
            </a:extLst>
          </p:cNvPr>
          <p:cNvSpPr txBox="1"/>
          <p:nvPr/>
        </p:nvSpPr>
        <p:spPr>
          <a:xfrm>
            <a:off x="4939748" y="6321287"/>
            <a:ext cx="2136911" cy="369332"/>
          </a:xfrm>
          <a:prstGeom prst="rect">
            <a:avLst/>
          </a:prstGeom>
          <a:noFill/>
        </p:spPr>
        <p:txBody>
          <a:bodyPr wrap="square" rtlCol="0">
            <a:spAutoFit/>
          </a:bodyPr>
          <a:lstStyle/>
          <a:p>
            <a:r>
              <a:rPr lang="en-SG" dirty="0"/>
              <a:t>End-to-End AI Agent</a:t>
            </a:r>
          </a:p>
        </p:txBody>
      </p:sp>
      <p:sp>
        <p:nvSpPr>
          <p:cNvPr id="30" name="TextBox 29">
            <a:extLst>
              <a:ext uri="{FF2B5EF4-FFF2-40B4-BE49-F238E27FC236}">
                <a16:creationId xmlns:a16="http://schemas.microsoft.com/office/drawing/2014/main" id="{64487B48-30D0-E536-CE27-0B2346C3805C}"/>
              </a:ext>
            </a:extLst>
          </p:cNvPr>
          <p:cNvSpPr txBox="1"/>
          <p:nvPr/>
        </p:nvSpPr>
        <p:spPr>
          <a:xfrm>
            <a:off x="1139685" y="2325757"/>
            <a:ext cx="1580323" cy="3970318"/>
          </a:xfrm>
          <a:prstGeom prst="rect">
            <a:avLst/>
          </a:prstGeom>
          <a:noFill/>
        </p:spPr>
        <p:txBody>
          <a:bodyPr wrap="square" rtlCol="0">
            <a:spAutoFit/>
          </a:bodyPr>
          <a:lstStyle/>
          <a:p>
            <a:r>
              <a:rPr lang="en-US" b="1" i="1" u="sng" dirty="0">
                <a:effectLst>
                  <a:outerShdw blurRad="38100" dist="38100" dir="2700000" algn="tl">
                    <a:srgbClr val="000000">
                      <a:alpha val="43137"/>
                    </a:srgbClr>
                  </a:outerShdw>
                </a:effectLst>
              </a:rPr>
              <a:t>By</a:t>
            </a:r>
          </a:p>
          <a:p>
            <a:r>
              <a:rPr lang="en-US" b="1" i="1" u="sng" dirty="0">
                <a:effectLst>
                  <a:outerShdw blurRad="38100" dist="38100" dir="2700000" algn="tl">
                    <a:srgbClr val="000000">
                      <a:alpha val="43137"/>
                    </a:srgbClr>
                  </a:outerShdw>
                </a:effectLst>
              </a:rPr>
              <a:t>the </a:t>
            </a:r>
          </a:p>
          <a:p>
            <a:r>
              <a:rPr lang="en-US" b="1" i="1" u="sng" dirty="0">
                <a:effectLst>
                  <a:outerShdw blurRad="38100" dist="38100" dir="2700000" algn="tl">
                    <a:srgbClr val="000000">
                      <a:alpha val="43137"/>
                    </a:srgbClr>
                  </a:outerShdw>
                </a:effectLst>
              </a:rPr>
              <a:t>end </a:t>
            </a:r>
          </a:p>
          <a:p>
            <a:r>
              <a:rPr lang="en-US" b="1" i="1" u="sng" dirty="0">
                <a:effectLst>
                  <a:outerShdw blurRad="38100" dist="38100" dir="2700000" algn="tl">
                    <a:srgbClr val="000000">
                      <a:alpha val="43137"/>
                    </a:srgbClr>
                  </a:outerShdw>
                </a:effectLst>
              </a:rPr>
              <a:t>of</a:t>
            </a:r>
          </a:p>
          <a:p>
            <a:r>
              <a:rPr lang="en-US" b="1" i="1" u="sng" dirty="0">
                <a:effectLst>
                  <a:outerShdw blurRad="38100" dist="38100" dir="2700000" algn="tl">
                    <a:srgbClr val="000000">
                      <a:alpha val="43137"/>
                    </a:srgbClr>
                  </a:outerShdw>
                </a:effectLst>
              </a:rPr>
              <a:t>this</a:t>
            </a:r>
          </a:p>
          <a:p>
            <a:r>
              <a:rPr lang="en-US" b="1" i="1" u="sng" dirty="0">
                <a:effectLst>
                  <a:outerShdw blurRad="38100" dist="38100" dir="2700000" algn="tl">
                    <a:srgbClr val="000000">
                      <a:alpha val="43137"/>
                    </a:srgbClr>
                  </a:outerShdw>
                </a:effectLst>
              </a:rPr>
              <a:t>workshop,</a:t>
            </a:r>
          </a:p>
          <a:p>
            <a:r>
              <a:rPr lang="en-US" b="1" i="1" u="sng" dirty="0">
                <a:effectLst>
                  <a:outerShdw blurRad="38100" dist="38100" dir="2700000" algn="tl">
                    <a:srgbClr val="000000">
                      <a:alpha val="43137"/>
                    </a:srgbClr>
                  </a:outerShdw>
                </a:effectLst>
              </a:rPr>
              <a:t>you </a:t>
            </a:r>
          </a:p>
          <a:p>
            <a:r>
              <a:rPr lang="en-US" b="1" i="1" u="sng" dirty="0">
                <a:effectLst>
                  <a:outerShdw blurRad="38100" dist="38100" dir="2700000" algn="tl">
                    <a:srgbClr val="000000">
                      <a:alpha val="43137"/>
                    </a:srgbClr>
                  </a:outerShdw>
                </a:effectLst>
              </a:rPr>
              <a:t>will </a:t>
            </a:r>
          </a:p>
          <a:p>
            <a:r>
              <a:rPr lang="en-US" b="1" i="1" u="sng" dirty="0">
                <a:effectLst>
                  <a:outerShdw blurRad="38100" dist="38100" dir="2700000" algn="tl">
                    <a:srgbClr val="000000">
                      <a:alpha val="43137"/>
                    </a:srgbClr>
                  </a:outerShdw>
                </a:effectLst>
              </a:rPr>
              <a:t>build </a:t>
            </a:r>
          </a:p>
          <a:p>
            <a:r>
              <a:rPr lang="en-US" b="1" i="1" u="sng" dirty="0">
                <a:effectLst>
                  <a:outerShdw blurRad="38100" dist="38100" dir="2700000" algn="tl">
                    <a:srgbClr val="000000">
                      <a:alpha val="43137"/>
                    </a:srgbClr>
                  </a:outerShdw>
                </a:effectLst>
              </a:rPr>
              <a:t>a </a:t>
            </a:r>
          </a:p>
          <a:p>
            <a:r>
              <a:rPr lang="en-US" b="1" i="1" u="sng" dirty="0">
                <a:effectLst>
                  <a:outerShdw blurRad="38100" dist="38100" dir="2700000" algn="tl">
                    <a:srgbClr val="000000">
                      <a:alpha val="43137"/>
                    </a:srgbClr>
                  </a:outerShdw>
                </a:effectLst>
              </a:rPr>
              <a:t>complete </a:t>
            </a:r>
          </a:p>
          <a:p>
            <a:r>
              <a:rPr lang="en-US" b="1" i="1" u="sng" dirty="0">
                <a:effectLst>
                  <a:outerShdw blurRad="38100" dist="38100" dir="2700000" algn="tl">
                    <a:srgbClr val="000000">
                      <a:alpha val="43137"/>
                    </a:srgbClr>
                  </a:outerShdw>
                </a:effectLst>
              </a:rPr>
              <a:t>AI Agent </a:t>
            </a:r>
          </a:p>
          <a:p>
            <a:r>
              <a:rPr lang="en-US" b="1" i="1" u="sng" dirty="0">
                <a:effectLst>
                  <a:outerShdw blurRad="38100" dist="38100" dir="2700000" algn="tl">
                    <a:srgbClr val="000000">
                      <a:alpha val="43137"/>
                    </a:srgbClr>
                  </a:outerShdw>
                </a:effectLst>
              </a:rPr>
              <a:t>using </a:t>
            </a:r>
          </a:p>
          <a:p>
            <a:r>
              <a:rPr lang="en-US" b="1" i="1" u="sng" dirty="0">
                <a:effectLst>
                  <a:outerShdw blurRad="38100" dist="38100" dir="2700000" algn="tl">
                    <a:srgbClr val="000000">
                      <a:alpha val="43137"/>
                    </a:srgbClr>
                  </a:outerShdw>
                </a:effectLst>
              </a:rPr>
              <a:t>Python.</a:t>
            </a:r>
            <a:endParaRPr lang="en-SG" i="1" u="sng"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996018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D2FCC-77DC-E6B9-BB3A-5B77E1E068EA}"/>
              </a:ext>
            </a:extLst>
          </p:cNvPr>
          <p:cNvSpPr>
            <a:spLocks noGrp="1"/>
          </p:cNvSpPr>
          <p:nvPr>
            <p:ph type="title"/>
          </p:nvPr>
        </p:nvSpPr>
        <p:spPr/>
        <p:txBody>
          <a:bodyPr/>
          <a:lstStyle/>
          <a:p>
            <a:r>
              <a:rPr lang="en-US" b="1" dirty="0"/>
              <a:t>The Evolution of Artificial Intelligence</a:t>
            </a:r>
            <a:endParaRPr lang="en-SG" b="1" dirty="0"/>
          </a:p>
        </p:txBody>
      </p:sp>
      <p:sp>
        <p:nvSpPr>
          <p:cNvPr id="4" name="TextBox 3">
            <a:extLst>
              <a:ext uri="{FF2B5EF4-FFF2-40B4-BE49-F238E27FC236}">
                <a16:creationId xmlns:a16="http://schemas.microsoft.com/office/drawing/2014/main" id="{0426CC93-D07D-9F2A-B2B4-BE5493771036}"/>
              </a:ext>
            </a:extLst>
          </p:cNvPr>
          <p:cNvSpPr txBox="1"/>
          <p:nvPr/>
        </p:nvSpPr>
        <p:spPr>
          <a:xfrm>
            <a:off x="4134679" y="1560443"/>
            <a:ext cx="2256180" cy="369332"/>
          </a:xfrm>
          <a:prstGeom prst="rect">
            <a:avLst/>
          </a:prstGeom>
          <a:noFill/>
        </p:spPr>
        <p:txBody>
          <a:bodyPr wrap="square" rtlCol="0">
            <a:spAutoFit/>
          </a:bodyPr>
          <a:lstStyle/>
          <a:p>
            <a:r>
              <a:rPr lang="en-SG" b="1" dirty="0"/>
              <a:t>Traditional Software</a:t>
            </a:r>
          </a:p>
        </p:txBody>
      </p:sp>
      <p:cxnSp>
        <p:nvCxnSpPr>
          <p:cNvPr id="6" name="Straight Arrow Connector 5">
            <a:extLst>
              <a:ext uri="{FF2B5EF4-FFF2-40B4-BE49-F238E27FC236}">
                <a16:creationId xmlns:a16="http://schemas.microsoft.com/office/drawing/2014/main" id="{4C6C4B3A-D3E1-5E03-DACB-637C0A8921B3}"/>
              </a:ext>
            </a:extLst>
          </p:cNvPr>
          <p:cNvCxnSpPr/>
          <p:nvPr/>
        </p:nvCxnSpPr>
        <p:spPr>
          <a:xfrm>
            <a:off x="5019261" y="1838739"/>
            <a:ext cx="0" cy="4472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441F15E-557B-D6A9-EBD6-C03C0294FBBC}"/>
              </a:ext>
            </a:extLst>
          </p:cNvPr>
          <p:cNvSpPr txBox="1"/>
          <p:nvPr/>
        </p:nvSpPr>
        <p:spPr>
          <a:xfrm>
            <a:off x="4134678" y="2434051"/>
            <a:ext cx="2256181" cy="369332"/>
          </a:xfrm>
          <a:prstGeom prst="rect">
            <a:avLst/>
          </a:prstGeom>
          <a:noFill/>
        </p:spPr>
        <p:txBody>
          <a:bodyPr wrap="square" rtlCol="0">
            <a:spAutoFit/>
          </a:bodyPr>
          <a:lstStyle/>
          <a:p>
            <a:r>
              <a:rPr lang="en-SG" b="1" dirty="0"/>
              <a:t>Machine Learning</a:t>
            </a:r>
          </a:p>
        </p:txBody>
      </p:sp>
      <p:cxnSp>
        <p:nvCxnSpPr>
          <p:cNvPr id="10" name="Straight Arrow Connector 9">
            <a:extLst>
              <a:ext uri="{FF2B5EF4-FFF2-40B4-BE49-F238E27FC236}">
                <a16:creationId xmlns:a16="http://schemas.microsoft.com/office/drawing/2014/main" id="{91A1B4A5-1910-F6B1-9A51-1B41542DCC98}"/>
              </a:ext>
            </a:extLst>
          </p:cNvPr>
          <p:cNvCxnSpPr/>
          <p:nvPr/>
        </p:nvCxnSpPr>
        <p:spPr>
          <a:xfrm>
            <a:off x="5019261" y="2706757"/>
            <a:ext cx="0" cy="4472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0107E20-35EF-3B64-DC65-258643662945}"/>
              </a:ext>
            </a:extLst>
          </p:cNvPr>
          <p:cNvSpPr txBox="1"/>
          <p:nvPr/>
        </p:nvSpPr>
        <p:spPr>
          <a:xfrm>
            <a:off x="4134677" y="3307659"/>
            <a:ext cx="2852531" cy="646331"/>
          </a:xfrm>
          <a:prstGeom prst="rect">
            <a:avLst/>
          </a:prstGeom>
          <a:noFill/>
        </p:spPr>
        <p:txBody>
          <a:bodyPr wrap="square" rtlCol="0">
            <a:spAutoFit/>
          </a:bodyPr>
          <a:lstStyle/>
          <a:p>
            <a:r>
              <a:rPr lang="it-IT" b="1" dirty="0"/>
              <a:t>Generative AI</a:t>
            </a:r>
            <a:br>
              <a:rPr lang="it-IT" b="1" dirty="0"/>
            </a:br>
            <a:r>
              <a:rPr lang="it-IT" b="1" dirty="0"/>
              <a:t>(ChatGPT, Claude, Gemini)</a:t>
            </a:r>
            <a:endParaRPr lang="en-SG" b="1" dirty="0"/>
          </a:p>
        </p:txBody>
      </p:sp>
      <p:cxnSp>
        <p:nvCxnSpPr>
          <p:cNvPr id="13" name="Straight Arrow Connector 12">
            <a:extLst>
              <a:ext uri="{FF2B5EF4-FFF2-40B4-BE49-F238E27FC236}">
                <a16:creationId xmlns:a16="http://schemas.microsoft.com/office/drawing/2014/main" id="{C7BDF2B8-3C52-50DD-2D90-3E155DD2E0F5}"/>
              </a:ext>
            </a:extLst>
          </p:cNvPr>
          <p:cNvCxnSpPr/>
          <p:nvPr/>
        </p:nvCxnSpPr>
        <p:spPr>
          <a:xfrm>
            <a:off x="5131905" y="3953990"/>
            <a:ext cx="0" cy="44726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C58A287C-E4F7-8CFB-3133-0E01EDB3A9A4}"/>
              </a:ext>
            </a:extLst>
          </p:cNvPr>
          <p:cNvSpPr txBox="1"/>
          <p:nvPr/>
        </p:nvSpPr>
        <p:spPr>
          <a:xfrm>
            <a:off x="4442797" y="4401251"/>
            <a:ext cx="1653204" cy="369332"/>
          </a:xfrm>
          <a:prstGeom prst="rect">
            <a:avLst/>
          </a:prstGeom>
          <a:noFill/>
        </p:spPr>
        <p:txBody>
          <a:bodyPr wrap="square" rtlCol="0">
            <a:spAutoFit/>
          </a:bodyPr>
          <a:lstStyle/>
          <a:p>
            <a:r>
              <a:rPr lang="en-SG" b="1" dirty="0"/>
              <a:t>Agentic AI</a:t>
            </a:r>
          </a:p>
        </p:txBody>
      </p:sp>
      <p:sp>
        <p:nvSpPr>
          <p:cNvPr id="17" name="TextBox 16">
            <a:extLst>
              <a:ext uri="{FF2B5EF4-FFF2-40B4-BE49-F238E27FC236}">
                <a16:creationId xmlns:a16="http://schemas.microsoft.com/office/drawing/2014/main" id="{6BEFAF08-B7F5-0C38-83B2-528A4451F4DE}"/>
              </a:ext>
            </a:extLst>
          </p:cNvPr>
          <p:cNvSpPr txBox="1"/>
          <p:nvPr/>
        </p:nvSpPr>
        <p:spPr>
          <a:xfrm>
            <a:off x="8130209" y="1560443"/>
            <a:ext cx="2703442" cy="1200329"/>
          </a:xfrm>
          <a:prstGeom prst="rect">
            <a:avLst/>
          </a:prstGeom>
          <a:noFill/>
        </p:spPr>
        <p:txBody>
          <a:bodyPr wrap="square" rtlCol="0">
            <a:spAutoFit/>
          </a:bodyPr>
          <a:lstStyle/>
          <a:p>
            <a:r>
              <a:rPr lang="en-US" b="1"/>
              <a:t>Traditional Software</a:t>
            </a:r>
          </a:p>
          <a:p>
            <a:r>
              <a:rPr lang="en-US"/>
              <a:t>Fixed Rules </a:t>
            </a:r>
          </a:p>
          <a:p>
            <a:r>
              <a:rPr lang="en-US"/>
              <a:t>Programmer decides everything</a:t>
            </a:r>
          </a:p>
        </p:txBody>
      </p:sp>
      <p:sp>
        <p:nvSpPr>
          <p:cNvPr id="19" name="TextBox 18">
            <a:extLst>
              <a:ext uri="{FF2B5EF4-FFF2-40B4-BE49-F238E27FC236}">
                <a16:creationId xmlns:a16="http://schemas.microsoft.com/office/drawing/2014/main" id="{F65B33A2-1142-4F4A-6A2B-8D0DC315452D}"/>
              </a:ext>
            </a:extLst>
          </p:cNvPr>
          <p:cNvSpPr txBox="1"/>
          <p:nvPr/>
        </p:nvSpPr>
        <p:spPr>
          <a:xfrm>
            <a:off x="8845826" y="2613991"/>
            <a:ext cx="248466" cy="369332"/>
          </a:xfrm>
          <a:prstGeom prst="rect">
            <a:avLst/>
          </a:prstGeom>
          <a:noFill/>
        </p:spPr>
        <p:txBody>
          <a:bodyPr wrap="square">
            <a:spAutoFit/>
          </a:bodyPr>
          <a:lstStyle/>
          <a:p>
            <a:r>
              <a:rPr lang="en-SG" dirty="0"/>
              <a:t>↓</a:t>
            </a:r>
          </a:p>
        </p:txBody>
      </p:sp>
      <p:sp>
        <p:nvSpPr>
          <p:cNvPr id="21" name="TextBox 20">
            <a:extLst>
              <a:ext uri="{FF2B5EF4-FFF2-40B4-BE49-F238E27FC236}">
                <a16:creationId xmlns:a16="http://schemas.microsoft.com/office/drawing/2014/main" id="{F94AAB5B-788B-304A-116A-B99B48E8C116}"/>
              </a:ext>
            </a:extLst>
          </p:cNvPr>
          <p:cNvSpPr txBox="1"/>
          <p:nvPr/>
        </p:nvSpPr>
        <p:spPr>
          <a:xfrm>
            <a:off x="8130209" y="2967335"/>
            <a:ext cx="2932037" cy="923330"/>
          </a:xfrm>
          <a:prstGeom prst="rect">
            <a:avLst/>
          </a:prstGeom>
          <a:noFill/>
        </p:spPr>
        <p:txBody>
          <a:bodyPr wrap="square">
            <a:spAutoFit/>
          </a:bodyPr>
          <a:lstStyle/>
          <a:p>
            <a:pPr>
              <a:buNone/>
            </a:pPr>
            <a:r>
              <a:rPr lang="en-US" b="1" dirty="0"/>
              <a:t>Machine Learning</a:t>
            </a:r>
          </a:p>
          <a:p>
            <a:pPr>
              <a:buFont typeface="Arial" panose="020B0604020202020204" pitchFamily="34" charset="0"/>
              <a:buChar char="•"/>
            </a:pPr>
            <a:r>
              <a:rPr lang="en-US" dirty="0"/>
              <a:t>Learns from Data </a:t>
            </a:r>
          </a:p>
          <a:p>
            <a:pPr>
              <a:buFont typeface="Arial" panose="020B0604020202020204" pitchFamily="34" charset="0"/>
              <a:buChar char="•"/>
            </a:pPr>
            <a:r>
              <a:rPr lang="en-US" dirty="0"/>
              <a:t>Makes Predictions</a:t>
            </a:r>
          </a:p>
        </p:txBody>
      </p:sp>
      <p:sp>
        <p:nvSpPr>
          <p:cNvPr id="23" name="TextBox 22">
            <a:extLst>
              <a:ext uri="{FF2B5EF4-FFF2-40B4-BE49-F238E27FC236}">
                <a16:creationId xmlns:a16="http://schemas.microsoft.com/office/drawing/2014/main" id="{AB4F4BE8-9253-D5D8-0D60-86E58CDAC5AB}"/>
              </a:ext>
            </a:extLst>
          </p:cNvPr>
          <p:cNvSpPr txBox="1"/>
          <p:nvPr/>
        </p:nvSpPr>
        <p:spPr>
          <a:xfrm>
            <a:off x="8801094" y="3690011"/>
            <a:ext cx="337931" cy="369332"/>
          </a:xfrm>
          <a:prstGeom prst="rect">
            <a:avLst/>
          </a:prstGeom>
          <a:noFill/>
        </p:spPr>
        <p:txBody>
          <a:bodyPr wrap="square">
            <a:spAutoFit/>
          </a:bodyPr>
          <a:lstStyle/>
          <a:p>
            <a:r>
              <a:rPr lang="en-SG" dirty="0"/>
              <a:t>↓</a:t>
            </a:r>
          </a:p>
        </p:txBody>
      </p:sp>
      <p:sp>
        <p:nvSpPr>
          <p:cNvPr id="25" name="TextBox 24">
            <a:extLst>
              <a:ext uri="{FF2B5EF4-FFF2-40B4-BE49-F238E27FC236}">
                <a16:creationId xmlns:a16="http://schemas.microsoft.com/office/drawing/2014/main" id="{28B7F5E6-D977-EC99-8442-F7EEB103BC9B}"/>
              </a:ext>
            </a:extLst>
          </p:cNvPr>
          <p:cNvSpPr txBox="1"/>
          <p:nvPr/>
        </p:nvSpPr>
        <p:spPr>
          <a:xfrm rot="10800000" flipV="1">
            <a:off x="7901611" y="4167663"/>
            <a:ext cx="2445020" cy="1200329"/>
          </a:xfrm>
          <a:prstGeom prst="rect">
            <a:avLst/>
          </a:prstGeom>
          <a:noFill/>
        </p:spPr>
        <p:txBody>
          <a:bodyPr wrap="square">
            <a:spAutoFit/>
          </a:bodyPr>
          <a:lstStyle/>
          <a:p>
            <a:pPr>
              <a:buNone/>
            </a:pPr>
            <a:r>
              <a:rPr lang="en-US" b="1" dirty="0"/>
              <a:t>Generative AI</a:t>
            </a:r>
          </a:p>
          <a:p>
            <a:pPr>
              <a:buFont typeface="Arial" panose="020B0604020202020204" pitchFamily="34" charset="0"/>
              <a:buChar char="•"/>
            </a:pPr>
            <a:r>
              <a:rPr lang="en-US" dirty="0"/>
              <a:t>Understands &amp; Generates Content </a:t>
            </a:r>
          </a:p>
          <a:p>
            <a:pPr>
              <a:buFont typeface="Arial" panose="020B0604020202020204" pitchFamily="34" charset="0"/>
              <a:buChar char="•"/>
            </a:pPr>
            <a:r>
              <a:rPr lang="en-US" dirty="0"/>
              <a:t>Responds to Prompts</a:t>
            </a:r>
          </a:p>
        </p:txBody>
      </p:sp>
      <p:sp>
        <p:nvSpPr>
          <p:cNvPr id="27" name="TextBox 26">
            <a:extLst>
              <a:ext uri="{FF2B5EF4-FFF2-40B4-BE49-F238E27FC236}">
                <a16:creationId xmlns:a16="http://schemas.microsoft.com/office/drawing/2014/main" id="{F2154069-55E9-DD6F-FF40-59F6E8D5D56D}"/>
              </a:ext>
            </a:extLst>
          </p:cNvPr>
          <p:cNvSpPr txBox="1"/>
          <p:nvPr/>
        </p:nvSpPr>
        <p:spPr>
          <a:xfrm>
            <a:off x="8746434" y="5183327"/>
            <a:ext cx="377687" cy="369332"/>
          </a:xfrm>
          <a:prstGeom prst="rect">
            <a:avLst/>
          </a:prstGeom>
          <a:noFill/>
        </p:spPr>
        <p:txBody>
          <a:bodyPr wrap="square">
            <a:spAutoFit/>
          </a:bodyPr>
          <a:lstStyle/>
          <a:p>
            <a:r>
              <a:rPr lang="en-SG" dirty="0"/>
              <a:t>↓</a:t>
            </a:r>
          </a:p>
        </p:txBody>
      </p:sp>
      <p:sp>
        <p:nvSpPr>
          <p:cNvPr id="29" name="TextBox 28">
            <a:extLst>
              <a:ext uri="{FF2B5EF4-FFF2-40B4-BE49-F238E27FC236}">
                <a16:creationId xmlns:a16="http://schemas.microsoft.com/office/drawing/2014/main" id="{7401F21E-B2B4-6CD2-B62B-DE859647659A}"/>
              </a:ext>
            </a:extLst>
          </p:cNvPr>
          <p:cNvSpPr txBox="1"/>
          <p:nvPr/>
        </p:nvSpPr>
        <p:spPr>
          <a:xfrm>
            <a:off x="7961246" y="5224741"/>
            <a:ext cx="3607899" cy="1477328"/>
          </a:xfrm>
          <a:prstGeom prst="rect">
            <a:avLst/>
          </a:prstGeom>
          <a:noFill/>
        </p:spPr>
        <p:txBody>
          <a:bodyPr wrap="square">
            <a:spAutoFit/>
          </a:bodyPr>
          <a:lstStyle/>
          <a:p>
            <a:pPr>
              <a:buNone/>
            </a:pPr>
            <a:endParaRPr lang="en-US" b="1" dirty="0"/>
          </a:p>
          <a:p>
            <a:pPr>
              <a:buNone/>
            </a:pPr>
            <a:r>
              <a:rPr lang="en-US" b="1" dirty="0"/>
              <a:t>Agentic AI</a:t>
            </a:r>
          </a:p>
          <a:p>
            <a:pPr>
              <a:buFont typeface="Arial" panose="020B0604020202020204" pitchFamily="34" charset="0"/>
              <a:buChar char="•"/>
            </a:pPr>
            <a:r>
              <a:rPr lang="en-US" dirty="0"/>
              <a:t>Understands Goals Plans </a:t>
            </a:r>
          </a:p>
          <a:p>
            <a:pPr>
              <a:buFont typeface="Arial" panose="020B0604020202020204" pitchFamily="34" charset="0"/>
              <a:buChar char="•"/>
            </a:pPr>
            <a:r>
              <a:rPr lang="en-US" dirty="0"/>
              <a:t>Uses Tools Remembers </a:t>
            </a:r>
          </a:p>
          <a:p>
            <a:pPr>
              <a:buFont typeface="Arial" panose="020B0604020202020204" pitchFamily="34" charset="0"/>
              <a:buChar char="•"/>
            </a:pPr>
            <a:r>
              <a:rPr lang="en-US" dirty="0"/>
              <a:t>Takes Actions </a:t>
            </a:r>
          </a:p>
        </p:txBody>
      </p:sp>
      <p:sp>
        <p:nvSpPr>
          <p:cNvPr id="31" name="TextBox 30">
            <a:extLst>
              <a:ext uri="{FF2B5EF4-FFF2-40B4-BE49-F238E27FC236}">
                <a16:creationId xmlns:a16="http://schemas.microsoft.com/office/drawing/2014/main" id="{85878FCF-6241-60F7-14EF-AE3A613BC357}"/>
              </a:ext>
            </a:extLst>
          </p:cNvPr>
          <p:cNvSpPr txBox="1"/>
          <p:nvPr/>
        </p:nvSpPr>
        <p:spPr>
          <a:xfrm>
            <a:off x="228602" y="3105835"/>
            <a:ext cx="3833189" cy="646331"/>
          </a:xfrm>
          <a:prstGeom prst="rect">
            <a:avLst/>
          </a:prstGeom>
          <a:noFill/>
        </p:spPr>
        <p:txBody>
          <a:bodyPr wrap="square">
            <a:spAutoFit/>
          </a:bodyPr>
          <a:lstStyle/>
          <a:p>
            <a:r>
              <a:rPr lang="en-US" b="1" dirty="0"/>
              <a:t>Generative AI answers questions.</a:t>
            </a:r>
            <a:br>
              <a:rPr lang="en-US" b="1" dirty="0"/>
            </a:br>
            <a:r>
              <a:rPr lang="en-US" b="1" dirty="0"/>
              <a:t>Agentic AI completes tasks</a:t>
            </a:r>
            <a:endParaRPr lang="en-SG" b="1" dirty="0"/>
          </a:p>
        </p:txBody>
      </p:sp>
    </p:spTree>
    <p:extLst>
      <p:ext uri="{BB962C8B-B14F-4D97-AF65-F5344CB8AC3E}">
        <p14:creationId xmlns:p14="http://schemas.microsoft.com/office/powerpoint/2010/main" val="2171840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F04A4-36AC-83CE-9B39-7F87BA09B580}"/>
              </a:ext>
            </a:extLst>
          </p:cNvPr>
          <p:cNvSpPr>
            <a:spLocks noGrp="1"/>
          </p:cNvSpPr>
          <p:nvPr>
            <p:ph type="title"/>
          </p:nvPr>
        </p:nvSpPr>
        <p:spPr/>
        <p:txBody>
          <a:bodyPr/>
          <a:lstStyle/>
          <a:p>
            <a:r>
              <a:rPr lang="en-US" b="1" dirty="0"/>
              <a:t>What is an AI Agent?</a:t>
            </a:r>
            <a:endParaRPr lang="en-SG" b="1" dirty="0"/>
          </a:p>
        </p:txBody>
      </p:sp>
      <p:sp>
        <p:nvSpPr>
          <p:cNvPr id="3" name="Content Placeholder 2">
            <a:extLst>
              <a:ext uri="{FF2B5EF4-FFF2-40B4-BE49-F238E27FC236}">
                <a16:creationId xmlns:a16="http://schemas.microsoft.com/office/drawing/2014/main" id="{9A96F4B4-B443-FADE-4A93-A4F6EF82EDB1}"/>
              </a:ext>
            </a:extLst>
          </p:cNvPr>
          <p:cNvSpPr>
            <a:spLocks noGrp="1"/>
          </p:cNvSpPr>
          <p:nvPr>
            <p:ph idx="1"/>
          </p:nvPr>
        </p:nvSpPr>
        <p:spPr/>
        <p:txBody>
          <a:bodyPr/>
          <a:lstStyle/>
          <a:p>
            <a:endParaRPr lang="en-US" dirty="0"/>
          </a:p>
          <a:p>
            <a:r>
              <a:rPr lang="en-US" dirty="0"/>
              <a:t>An AI Agent is an intelligent software system </a:t>
            </a:r>
          </a:p>
          <a:p>
            <a:pPr marL="0" indent="0">
              <a:buNone/>
            </a:pPr>
            <a:r>
              <a:rPr lang="en-US" dirty="0"/>
              <a:t>That can </a:t>
            </a:r>
          </a:p>
          <a:p>
            <a:r>
              <a:rPr lang="en-US" dirty="0"/>
              <a:t>perceive, </a:t>
            </a:r>
          </a:p>
          <a:p>
            <a:r>
              <a:rPr lang="en-US" dirty="0"/>
              <a:t>reason, </a:t>
            </a:r>
          </a:p>
          <a:p>
            <a:r>
              <a:rPr lang="en-US" dirty="0"/>
              <a:t>plan, </a:t>
            </a:r>
          </a:p>
          <a:p>
            <a:r>
              <a:rPr lang="en-US" dirty="0"/>
              <a:t>take actions, and </a:t>
            </a:r>
          </a:p>
          <a:p>
            <a:r>
              <a:rPr lang="en-US" dirty="0"/>
              <a:t>achieve a goal autonomously or semi-autonomously.</a:t>
            </a:r>
          </a:p>
          <a:p>
            <a:endParaRPr lang="en-SG" dirty="0"/>
          </a:p>
        </p:txBody>
      </p:sp>
    </p:spTree>
    <p:extLst>
      <p:ext uri="{BB962C8B-B14F-4D97-AF65-F5344CB8AC3E}">
        <p14:creationId xmlns:p14="http://schemas.microsoft.com/office/powerpoint/2010/main" val="1718188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46235-52CA-3F35-9C5E-FF174922F94A}"/>
              </a:ext>
            </a:extLst>
          </p:cNvPr>
          <p:cNvSpPr>
            <a:spLocks noGrp="1"/>
          </p:cNvSpPr>
          <p:nvPr>
            <p:ph type="title"/>
          </p:nvPr>
        </p:nvSpPr>
        <p:spPr/>
        <p:txBody>
          <a:bodyPr/>
          <a:lstStyle/>
          <a:p>
            <a:r>
              <a:rPr lang="en-SG" b="1" dirty="0"/>
              <a:t>AI Agent Cycle</a:t>
            </a:r>
          </a:p>
        </p:txBody>
      </p:sp>
      <p:sp>
        <p:nvSpPr>
          <p:cNvPr id="4" name="TextBox 3">
            <a:extLst>
              <a:ext uri="{FF2B5EF4-FFF2-40B4-BE49-F238E27FC236}">
                <a16:creationId xmlns:a16="http://schemas.microsoft.com/office/drawing/2014/main" id="{9697930E-B087-D37E-2A1D-AF024AA691E1}"/>
              </a:ext>
            </a:extLst>
          </p:cNvPr>
          <p:cNvSpPr txBox="1"/>
          <p:nvPr/>
        </p:nvSpPr>
        <p:spPr>
          <a:xfrm>
            <a:off x="3896139" y="1779104"/>
            <a:ext cx="795131" cy="369332"/>
          </a:xfrm>
          <a:prstGeom prst="rect">
            <a:avLst/>
          </a:prstGeom>
          <a:noFill/>
        </p:spPr>
        <p:txBody>
          <a:bodyPr wrap="square" rtlCol="0">
            <a:spAutoFit/>
          </a:bodyPr>
          <a:lstStyle/>
          <a:p>
            <a:r>
              <a:rPr lang="en-SG" dirty="0"/>
              <a:t>GOAL</a:t>
            </a:r>
          </a:p>
        </p:txBody>
      </p:sp>
      <p:cxnSp>
        <p:nvCxnSpPr>
          <p:cNvPr id="6" name="Straight Arrow Connector 5">
            <a:extLst>
              <a:ext uri="{FF2B5EF4-FFF2-40B4-BE49-F238E27FC236}">
                <a16:creationId xmlns:a16="http://schemas.microsoft.com/office/drawing/2014/main" id="{D4AF4589-EC9B-A124-40E7-4EDFA43BC59A}"/>
              </a:ext>
            </a:extLst>
          </p:cNvPr>
          <p:cNvCxnSpPr>
            <a:cxnSpLocks/>
            <a:stCxn id="4" idx="2"/>
          </p:cNvCxnSpPr>
          <p:nvPr/>
        </p:nvCxnSpPr>
        <p:spPr>
          <a:xfrm>
            <a:off x="4293705" y="2148436"/>
            <a:ext cx="0" cy="369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A90D4878-8E5A-221F-A4E0-46B6B459ABA3}"/>
              </a:ext>
            </a:extLst>
          </p:cNvPr>
          <p:cNvSpPr txBox="1"/>
          <p:nvPr/>
        </p:nvSpPr>
        <p:spPr>
          <a:xfrm>
            <a:off x="3707294" y="2517768"/>
            <a:ext cx="1679711" cy="369332"/>
          </a:xfrm>
          <a:prstGeom prst="rect">
            <a:avLst/>
          </a:prstGeom>
          <a:noFill/>
        </p:spPr>
        <p:txBody>
          <a:bodyPr wrap="square" rtlCol="0">
            <a:spAutoFit/>
          </a:bodyPr>
          <a:lstStyle/>
          <a:p>
            <a:r>
              <a:rPr lang="en-SG" dirty="0"/>
              <a:t>Think / Reason</a:t>
            </a:r>
          </a:p>
        </p:txBody>
      </p:sp>
      <p:cxnSp>
        <p:nvCxnSpPr>
          <p:cNvPr id="10" name="Straight Arrow Connector 9">
            <a:extLst>
              <a:ext uri="{FF2B5EF4-FFF2-40B4-BE49-F238E27FC236}">
                <a16:creationId xmlns:a16="http://schemas.microsoft.com/office/drawing/2014/main" id="{43434024-CBCE-68D2-CB1F-420850B1FAD3}"/>
              </a:ext>
            </a:extLst>
          </p:cNvPr>
          <p:cNvCxnSpPr>
            <a:cxnSpLocks/>
          </p:cNvCxnSpPr>
          <p:nvPr/>
        </p:nvCxnSpPr>
        <p:spPr>
          <a:xfrm>
            <a:off x="4393096" y="2887100"/>
            <a:ext cx="0" cy="4226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278B708-EB0C-8CED-957D-966D9404F51C}"/>
              </a:ext>
            </a:extLst>
          </p:cNvPr>
          <p:cNvSpPr txBox="1"/>
          <p:nvPr/>
        </p:nvSpPr>
        <p:spPr>
          <a:xfrm>
            <a:off x="3707294" y="3344848"/>
            <a:ext cx="1679711" cy="369332"/>
          </a:xfrm>
          <a:prstGeom prst="rect">
            <a:avLst/>
          </a:prstGeom>
          <a:noFill/>
        </p:spPr>
        <p:txBody>
          <a:bodyPr wrap="square" rtlCol="0">
            <a:spAutoFit/>
          </a:bodyPr>
          <a:lstStyle/>
          <a:p>
            <a:r>
              <a:rPr lang="en-SG" dirty="0"/>
              <a:t>Create a Plan</a:t>
            </a:r>
          </a:p>
        </p:txBody>
      </p:sp>
      <p:cxnSp>
        <p:nvCxnSpPr>
          <p:cNvPr id="17" name="Straight Arrow Connector 16">
            <a:extLst>
              <a:ext uri="{FF2B5EF4-FFF2-40B4-BE49-F238E27FC236}">
                <a16:creationId xmlns:a16="http://schemas.microsoft.com/office/drawing/2014/main" id="{83C34DA6-97A4-E18B-68F2-E40B88F6774D}"/>
              </a:ext>
            </a:extLst>
          </p:cNvPr>
          <p:cNvCxnSpPr>
            <a:cxnSpLocks/>
          </p:cNvCxnSpPr>
          <p:nvPr/>
        </p:nvCxnSpPr>
        <p:spPr>
          <a:xfrm>
            <a:off x="4393096" y="3625909"/>
            <a:ext cx="0" cy="4226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FB99C99-2E1B-7EC2-BF3A-3EA956903FB6}"/>
              </a:ext>
            </a:extLst>
          </p:cNvPr>
          <p:cNvSpPr txBox="1"/>
          <p:nvPr/>
        </p:nvSpPr>
        <p:spPr>
          <a:xfrm>
            <a:off x="3896138" y="4164496"/>
            <a:ext cx="1341783" cy="369332"/>
          </a:xfrm>
          <a:prstGeom prst="rect">
            <a:avLst/>
          </a:prstGeom>
          <a:noFill/>
        </p:spPr>
        <p:txBody>
          <a:bodyPr wrap="square" rtlCol="0">
            <a:spAutoFit/>
          </a:bodyPr>
          <a:lstStyle/>
          <a:p>
            <a:r>
              <a:rPr lang="en-SG" dirty="0"/>
              <a:t>Use Tools</a:t>
            </a:r>
          </a:p>
        </p:txBody>
      </p:sp>
      <p:cxnSp>
        <p:nvCxnSpPr>
          <p:cNvPr id="19" name="Straight Arrow Connector 18">
            <a:extLst>
              <a:ext uri="{FF2B5EF4-FFF2-40B4-BE49-F238E27FC236}">
                <a16:creationId xmlns:a16="http://schemas.microsoft.com/office/drawing/2014/main" id="{0D32A4CF-7976-0BAD-925F-732EE556EA5E}"/>
              </a:ext>
            </a:extLst>
          </p:cNvPr>
          <p:cNvCxnSpPr>
            <a:cxnSpLocks/>
          </p:cNvCxnSpPr>
          <p:nvPr/>
        </p:nvCxnSpPr>
        <p:spPr>
          <a:xfrm>
            <a:off x="4406349" y="4533828"/>
            <a:ext cx="0" cy="4226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18621EF-CC72-0E17-C1E0-C841BCA77A12}"/>
              </a:ext>
            </a:extLst>
          </p:cNvPr>
          <p:cNvSpPr txBox="1"/>
          <p:nvPr/>
        </p:nvSpPr>
        <p:spPr>
          <a:xfrm>
            <a:off x="3543298" y="4984144"/>
            <a:ext cx="2047461" cy="369332"/>
          </a:xfrm>
          <a:prstGeom prst="rect">
            <a:avLst/>
          </a:prstGeom>
          <a:noFill/>
        </p:spPr>
        <p:txBody>
          <a:bodyPr wrap="square" rtlCol="0">
            <a:spAutoFit/>
          </a:bodyPr>
          <a:lstStyle/>
          <a:p>
            <a:r>
              <a:rPr lang="en-SG" dirty="0"/>
              <a:t>Perform Action</a:t>
            </a:r>
          </a:p>
        </p:txBody>
      </p:sp>
      <p:cxnSp>
        <p:nvCxnSpPr>
          <p:cNvPr id="21" name="Straight Arrow Connector 20">
            <a:extLst>
              <a:ext uri="{FF2B5EF4-FFF2-40B4-BE49-F238E27FC236}">
                <a16:creationId xmlns:a16="http://schemas.microsoft.com/office/drawing/2014/main" id="{7DC9359E-6951-E35D-7F93-727C6F90E8CE}"/>
              </a:ext>
            </a:extLst>
          </p:cNvPr>
          <p:cNvCxnSpPr>
            <a:cxnSpLocks/>
          </p:cNvCxnSpPr>
          <p:nvPr/>
        </p:nvCxnSpPr>
        <p:spPr>
          <a:xfrm>
            <a:off x="4389784" y="5262697"/>
            <a:ext cx="0" cy="4226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4D1B234C-68E2-7B25-2892-1AD9C7D70E7D}"/>
              </a:ext>
            </a:extLst>
          </p:cNvPr>
          <p:cNvSpPr txBox="1"/>
          <p:nvPr/>
        </p:nvSpPr>
        <p:spPr>
          <a:xfrm>
            <a:off x="3543298" y="5804452"/>
            <a:ext cx="1694618" cy="369332"/>
          </a:xfrm>
          <a:prstGeom prst="rect">
            <a:avLst/>
          </a:prstGeom>
          <a:noFill/>
        </p:spPr>
        <p:txBody>
          <a:bodyPr wrap="square" rtlCol="0">
            <a:spAutoFit/>
          </a:bodyPr>
          <a:lstStyle/>
          <a:p>
            <a:r>
              <a:rPr lang="en-SG" dirty="0"/>
              <a:t>Evaluate Result</a:t>
            </a:r>
          </a:p>
        </p:txBody>
      </p:sp>
      <p:cxnSp>
        <p:nvCxnSpPr>
          <p:cNvPr id="24" name="Straight Arrow Connector 23">
            <a:extLst>
              <a:ext uri="{FF2B5EF4-FFF2-40B4-BE49-F238E27FC236}">
                <a16:creationId xmlns:a16="http://schemas.microsoft.com/office/drawing/2014/main" id="{F82DFAFD-FFAF-2F1C-E8FA-2DCE4019350E}"/>
              </a:ext>
            </a:extLst>
          </p:cNvPr>
          <p:cNvCxnSpPr/>
          <p:nvPr/>
        </p:nvCxnSpPr>
        <p:spPr>
          <a:xfrm>
            <a:off x="5387005" y="5983357"/>
            <a:ext cx="70899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0F8866A8-C689-5D6F-B242-1788D7AE276D}"/>
              </a:ext>
            </a:extLst>
          </p:cNvPr>
          <p:cNvSpPr txBox="1"/>
          <p:nvPr/>
        </p:nvSpPr>
        <p:spPr>
          <a:xfrm>
            <a:off x="6211957" y="5804452"/>
            <a:ext cx="993913" cy="369332"/>
          </a:xfrm>
          <a:prstGeom prst="rect">
            <a:avLst/>
          </a:prstGeom>
          <a:noFill/>
        </p:spPr>
        <p:txBody>
          <a:bodyPr wrap="square" rtlCol="0">
            <a:spAutoFit/>
          </a:bodyPr>
          <a:lstStyle/>
          <a:p>
            <a:r>
              <a:rPr lang="en-SG" dirty="0"/>
              <a:t>Success</a:t>
            </a:r>
          </a:p>
        </p:txBody>
      </p:sp>
      <p:sp>
        <p:nvSpPr>
          <p:cNvPr id="27" name="TextBox 26">
            <a:extLst>
              <a:ext uri="{FF2B5EF4-FFF2-40B4-BE49-F238E27FC236}">
                <a16:creationId xmlns:a16="http://schemas.microsoft.com/office/drawing/2014/main" id="{745E6B63-66F8-B3F8-9198-90CF32E861DA}"/>
              </a:ext>
            </a:extLst>
          </p:cNvPr>
          <p:cNvSpPr txBox="1"/>
          <p:nvPr/>
        </p:nvSpPr>
        <p:spPr>
          <a:xfrm rot="16200000">
            <a:off x="7070041" y="5527453"/>
            <a:ext cx="1254813" cy="646331"/>
          </a:xfrm>
          <a:prstGeom prst="rect">
            <a:avLst/>
          </a:prstGeom>
          <a:noFill/>
        </p:spPr>
        <p:txBody>
          <a:bodyPr wrap="square">
            <a:spAutoFit/>
          </a:bodyPr>
          <a:lstStyle/>
          <a:p>
            <a:r>
              <a:rPr lang="en-SG" dirty="0"/>
              <a:t>Yes │ │ No</a:t>
            </a:r>
            <a:br>
              <a:rPr lang="en-SG" dirty="0"/>
            </a:br>
            <a:r>
              <a:rPr lang="en-SG" dirty="0"/>
              <a:t>     ▼ ▲</a:t>
            </a:r>
          </a:p>
        </p:txBody>
      </p:sp>
      <p:sp>
        <p:nvSpPr>
          <p:cNvPr id="28" name="TextBox 27">
            <a:extLst>
              <a:ext uri="{FF2B5EF4-FFF2-40B4-BE49-F238E27FC236}">
                <a16:creationId xmlns:a16="http://schemas.microsoft.com/office/drawing/2014/main" id="{C299D019-217D-2856-675E-0E811671E941}"/>
              </a:ext>
            </a:extLst>
          </p:cNvPr>
          <p:cNvSpPr txBox="1"/>
          <p:nvPr/>
        </p:nvSpPr>
        <p:spPr>
          <a:xfrm>
            <a:off x="8020615" y="5983357"/>
            <a:ext cx="755638" cy="369332"/>
          </a:xfrm>
          <a:prstGeom prst="rect">
            <a:avLst/>
          </a:prstGeom>
          <a:noFill/>
        </p:spPr>
        <p:txBody>
          <a:bodyPr wrap="square" rtlCol="0">
            <a:spAutoFit/>
          </a:bodyPr>
          <a:lstStyle/>
          <a:p>
            <a:r>
              <a:rPr lang="en-SG" dirty="0"/>
              <a:t>Finish</a:t>
            </a:r>
          </a:p>
        </p:txBody>
      </p:sp>
      <p:sp>
        <p:nvSpPr>
          <p:cNvPr id="29" name="TextBox 28">
            <a:extLst>
              <a:ext uri="{FF2B5EF4-FFF2-40B4-BE49-F238E27FC236}">
                <a16:creationId xmlns:a16="http://schemas.microsoft.com/office/drawing/2014/main" id="{0F5EF901-5B94-D659-CA4F-D239EF6DAC79}"/>
              </a:ext>
            </a:extLst>
          </p:cNvPr>
          <p:cNvSpPr txBox="1"/>
          <p:nvPr/>
        </p:nvSpPr>
        <p:spPr>
          <a:xfrm>
            <a:off x="8020614" y="5516217"/>
            <a:ext cx="1968212" cy="369332"/>
          </a:xfrm>
          <a:prstGeom prst="rect">
            <a:avLst/>
          </a:prstGeom>
          <a:noFill/>
        </p:spPr>
        <p:txBody>
          <a:bodyPr wrap="square" rtlCol="0">
            <a:spAutoFit/>
          </a:bodyPr>
          <a:lstStyle/>
          <a:p>
            <a:r>
              <a:rPr lang="en-SG" dirty="0"/>
              <a:t>Retry / Replan</a:t>
            </a:r>
          </a:p>
        </p:txBody>
      </p:sp>
      <p:sp>
        <p:nvSpPr>
          <p:cNvPr id="30" name="TextBox 29">
            <a:extLst>
              <a:ext uri="{FF2B5EF4-FFF2-40B4-BE49-F238E27FC236}">
                <a16:creationId xmlns:a16="http://schemas.microsoft.com/office/drawing/2014/main" id="{664DBD23-E645-8B45-261C-8518BB74D388}"/>
              </a:ext>
            </a:extLst>
          </p:cNvPr>
          <p:cNvSpPr txBox="1"/>
          <p:nvPr/>
        </p:nvSpPr>
        <p:spPr>
          <a:xfrm>
            <a:off x="7653130" y="1958009"/>
            <a:ext cx="3965711" cy="2031325"/>
          </a:xfrm>
          <a:prstGeom prst="rect">
            <a:avLst/>
          </a:prstGeom>
          <a:noFill/>
        </p:spPr>
        <p:txBody>
          <a:bodyPr wrap="square" rtlCol="0">
            <a:spAutoFit/>
          </a:bodyPr>
          <a:lstStyle/>
          <a:p>
            <a:r>
              <a:rPr lang="en-US" b="1" dirty="0"/>
              <a:t>Examples of AI Agents:</a:t>
            </a:r>
          </a:p>
          <a:p>
            <a:r>
              <a:rPr lang="en-US" dirty="0"/>
              <a:t>✅ Customer Support Agent</a:t>
            </a:r>
          </a:p>
          <a:p>
            <a:r>
              <a:rPr lang="en-US" dirty="0"/>
              <a:t>✅ Coding Agent</a:t>
            </a:r>
          </a:p>
          <a:p>
            <a:r>
              <a:rPr lang="en-US" dirty="0"/>
              <a:t>✅ Research Agent</a:t>
            </a:r>
          </a:p>
          <a:p>
            <a:r>
              <a:rPr lang="en-US" dirty="0"/>
              <a:t>✅ Email Assistant</a:t>
            </a:r>
          </a:p>
          <a:p>
            <a:r>
              <a:rPr lang="en-US" dirty="0"/>
              <a:t>✅ Travel Booking Agent</a:t>
            </a:r>
          </a:p>
          <a:p>
            <a:endParaRPr lang="en-SG" dirty="0"/>
          </a:p>
        </p:txBody>
      </p:sp>
    </p:spTree>
    <p:extLst>
      <p:ext uri="{BB962C8B-B14F-4D97-AF65-F5344CB8AC3E}">
        <p14:creationId xmlns:p14="http://schemas.microsoft.com/office/powerpoint/2010/main" val="31201692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9B6E2-0633-AACD-4E3F-8F5D792DB686}"/>
              </a:ext>
            </a:extLst>
          </p:cNvPr>
          <p:cNvSpPr>
            <a:spLocks noGrp="1"/>
          </p:cNvSpPr>
          <p:nvPr>
            <p:ph type="title"/>
          </p:nvPr>
        </p:nvSpPr>
        <p:spPr/>
        <p:txBody>
          <a:bodyPr/>
          <a:lstStyle/>
          <a:p>
            <a:r>
              <a:rPr lang="en-SG" b="1" dirty="0"/>
              <a:t>ChatGPT vs AI Agent</a:t>
            </a:r>
          </a:p>
        </p:txBody>
      </p:sp>
      <p:graphicFrame>
        <p:nvGraphicFramePr>
          <p:cNvPr id="4" name="Content Placeholder 3">
            <a:extLst>
              <a:ext uri="{FF2B5EF4-FFF2-40B4-BE49-F238E27FC236}">
                <a16:creationId xmlns:a16="http://schemas.microsoft.com/office/drawing/2014/main" id="{C0D8ED9C-6A0A-0A23-4EBF-955C36F38286}"/>
              </a:ext>
            </a:extLst>
          </p:cNvPr>
          <p:cNvGraphicFramePr>
            <a:graphicFrameLocks noGrp="1"/>
          </p:cNvGraphicFramePr>
          <p:nvPr>
            <p:ph idx="1"/>
            <p:extLst>
              <p:ext uri="{D42A27DB-BD31-4B8C-83A1-F6EECF244321}">
                <p14:modId xmlns:p14="http://schemas.microsoft.com/office/powerpoint/2010/main" val="472625705"/>
              </p:ext>
            </p:extLst>
          </p:nvPr>
        </p:nvGraphicFramePr>
        <p:xfrm>
          <a:off x="838200" y="1825625"/>
          <a:ext cx="10515600" cy="296672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067429912"/>
                    </a:ext>
                  </a:extLst>
                </a:gridCol>
                <a:gridCol w="5257800">
                  <a:extLst>
                    <a:ext uri="{9D8B030D-6E8A-4147-A177-3AD203B41FA5}">
                      <a16:colId xmlns:a16="http://schemas.microsoft.com/office/drawing/2014/main" val="1371810249"/>
                    </a:ext>
                  </a:extLst>
                </a:gridCol>
              </a:tblGrid>
              <a:tr h="370840">
                <a:tc>
                  <a:txBody>
                    <a:bodyPr/>
                    <a:lstStyle/>
                    <a:p>
                      <a:pPr algn="ctr"/>
                      <a:r>
                        <a:rPr lang="en-SG" dirty="0"/>
                        <a:t>ChatGPT</a:t>
                      </a:r>
                    </a:p>
                  </a:txBody>
                  <a:tcPr/>
                </a:tc>
                <a:tc>
                  <a:txBody>
                    <a:bodyPr/>
                    <a:lstStyle/>
                    <a:p>
                      <a:pPr algn="ctr"/>
                      <a:r>
                        <a:rPr lang="en-SG" dirty="0"/>
                        <a:t>AI Agent</a:t>
                      </a:r>
                    </a:p>
                  </a:txBody>
                  <a:tcPr/>
                </a:tc>
                <a:extLst>
                  <a:ext uri="{0D108BD9-81ED-4DB2-BD59-A6C34878D82A}">
                    <a16:rowId xmlns:a16="http://schemas.microsoft.com/office/drawing/2014/main" val="753936571"/>
                  </a:ext>
                </a:extLst>
              </a:tr>
              <a:tr h="370840">
                <a:tc>
                  <a:txBody>
                    <a:bodyPr/>
                    <a:lstStyle/>
                    <a:p>
                      <a:r>
                        <a:rPr lang="en-SG" dirty="0"/>
                        <a:t>Responds to prompts</a:t>
                      </a:r>
                    </a:p>
                  </a:txBody>
                  <a:tcPr/>
                </a:tc>
                <a:tc>
                  <a:txBody>
                    <a:bodyPr/>
                    <a:lstStyle/>
                    <a:p>
                      <a:r>
                        <a:rPr lang="en-SG" dirty="0"/>
                        <a:t>Works towards a goal</a:t>
                      </a:r>
                    </a:p>
                  </a:txBody>
                  <a:tcPr/>
                </a:tc>
                <a:extLst>
                  <a:ext uri="{0D108BD9-81ED-4DB2-BD59-A6C34878D82A}">
                    <a16:rowId xmlns:a16="http://schemas.microsoft.com/office/drawing/2014/main" val="3854519601"/>
                  </a:ext>
                </a:extLst>
              </a:tr>
              <a:tr h="370840">
                <a:tc>
                  <a:txBody>
                    <a:bodyPr/>
                    <a:lstStyle/>
                    <a:p>
                      <a:r>
                        <a:rPr lang="en-SG" dirty="0"/>
                        <a:t>Generates text or code</a:t>
                      </a:r>
                    </a:p>
                  </a:txBody>
                  <a:tcPr/>
                </a:tc>
                <a:tc>
                  <a:txBody>
                    <a:bodyPr/>
                    <a:lstStyle/>
                    <a:p>
                      <a:r>
                        <a:rPr lang="en-SG" dirty="0"/>
                        <a:t>Takes actions</a:t>
                      </a:r>
                    </a:p>
                  </a:txBody>
                  <a:tcPr/>
                </a:tc>
                <a:extLst>
                  <a:ext uri="{0D108BD9-81ED-4DB2-BD59-A6C34878D82A}">
                    <a16:rowId xmlns:a16="http://schemas.microsoft.com/office/drawing/2014/main" val="1382695499"/>
                  </a:ext>
                </a:extLst>
              </a:tr>
              <a:tr h="370840">
                <a:tc>
                  <a:txBody>
                    <a:bodyPr/>
                    <a:lstStyle/>
                    <a:p>
                      <a:r>
                        <a:rPr lang="en-US" dirty="0"/>
                        <a:t>Waits for the next prompt</a:t>
                      </a:r>
                      <a:endParaRPr lang="en-SG" dirty="0"/>
                    </a:p>
                  </a:txBody>
                  <a:tcPr/>
                </a:tc>
                <a:tc>
                  <a:txBody>
                    <a:bodyPr/>
                    <a:lstStyle/>
                    <a:p>
                      <a:r>
                        <a:rPr lang="en-SG" dirty="0"/>
                        <a:t>Plans the next step</a:t>
                      </a:r>
                    </a:p>
                  </a:txBody>
                  <a:tcPr/>
                </a:tc>
                <a:extLst>
                  <a:ext uri="{0D108BD9-81ED-4DB2-BD59-A6C34878D82A}">
                    <a16:rowId xmlns:a16="http://schemas.microsoft.com/office/drawing/2014/main" val="2907134947"/>
                  </a:ext>
                </a:extLst>
              </a:tr>
              <a:tr h="370840">
                <a:tc>
                  <a:txBody>
                    <a:bodyPr/>
                    <a:lstStyle/>
                    <a:p>
                      <a:r>
                        <a:rPr lang="en-SG" dirty="0"/>
                        <a:t>Limited tool execution</a:t>
                      </a:r>
                    </a:p>
                  </a:txBody>
                  <a:tcPr/>
                </a:tc>
                <a:tc>
                  <a:txBody>
                    <a:bodyPr/>
                    <a:lstStyle/>
                    <a:p>
                      <a:r>
                        <a:rPr lang="en-SG" dirty="0"/>
                        <a:t>Uses multiple tools</a:t>
                      </a:r>
                    </a:p>
                  </a:txBody>
                  <a:tcPr/>
                </a:tc>
                <a:extLst>
                  <a:ext uri="{0D108BD9-81ED-4DB2-BD59-A6C34878D82A}">
                    <a16:rowId xmlns:a16="http://schemas.microsoft.com/office/drawing/2014/main" val="2315704004"/>
                  </a:ext>
                </a:extLst>
              </a:tr>
              <a:tr h="370840">
                <a:tc>
                  <a:txBody>
                    <a:bodyPr/>
                    <a:lstStyle/>
                    <a:p>
                      <a:r>
                        <a:rPr lang="en-SG" dirty="0"/>
                        <a:t>Conversation memory</a:t>
                      </a:r>
                    </a:p>
                  </a:txBody>
                  <a:tcPr/>
                </a:tc>
                <a:tc>
                  <a:txBody>
                    <a:bodyPr/>
                    <a:lstStyle/>
                    <a:p>
                      <a:r>
                        <a:rPr lang="en-US" dirty="0"/>
                        <a:t>Can maintain long-term/task memory</a:t>
                      </a:r>
                      <a:endParaRPr lang="en-SG" dirty="0"/>
                    </a:p>
                  </a:txBody>
                  <a:tcPr/>
                </a:tc>
                <a:extLst>
                  <a:ext uri="{0D108BD9-81ED-4DB2-BD59-A6C34878D82A}">
                    <a16:rowId xmlns:a16="http://schemas.microsoft.com/office/drawing/2014/main" val="838232838"/>
                  </a:ext>
                </a:extLst>
              </a:tr>
              <a:tr h="370840">
                <a:tc>
                  <a:txBody>
                    <a:bodyPr/>
                    <a:lstStyle/>
                    <a:p>
                      <a:r>
                        <a:rPr lang="en-SG" dirty="0"/>
                        <a:t>Single interaction</a:t>
                      </a:r>
                    </a:p>
                  </a:txBody>
                  <a:tcPr/>
                </a:tc>
                <a:tc>
                  <a:txBody>
                    <a:bodyPr/>
                    <a:lstStyle/>
                    <a:p>
                      <a:r>
                        <a:rPr lang="en-SG" dirty="0"/>
                        <a:t>Multi-step workflow</a:t>
                      </a:r>
                    </a:p>
                  </a:txBody>
                  <a:tcPr/>
                </a:tc>
                <a:extLst>
                  <a:ext uri="{0D108BD9-81ED-4DB2-BD59-A6C34878D82A}">
                    <a16:rowId xmlns:a16="http://schemas.microsoft.com/office/drawing/2014/main" val="2266075112"/>
                  </a:ext>
                </a:extLst>
              </a:tr>
              <a:tr h="370840">
                <a:tc>
                  <a:txBody>
                    <a:bodyPr/>
                    <a:lstStyle/>
                    <a:p>
                      <a:r>
                        <a:rPr lang="en-SG" dirty="0"/>
                        <a:t>AI Assistant</a:t>
                      </a:r>
                    </a:p>
                  </a:txBody>
                  <a:tcPr/>
                </a:tc>
                <a:tc>
                  <a:txBody>
                    <a:bodyPr/>
                    <a:lstStyle/>
                    <a:p>
                      <a:r>
                        <a:rPr lang="en-SG" dirty="0"/>
                        <a:t>Autonomous AI System</a:t>
                      </a:r>
                    </a:p>
                  </a:txBody>
                  <a:tcPr/>
                </a:tc>
                <a:extLst>
                  <a:ext uri="{0D108BD9-81ED-4DB2-BD59-A6C34878D82A}">
                    <a16:rowId xmlns:a16="http://schemas.microsoft.com/office/drawing/2014/main" val="496417504"/>
                  </a:ext>
                </a:extLst>
              </a:tr>
            </a:tbl>
          </a:graphicData>
        </a:graphic>
      </p:graphicFrame>
      <p:sp>
        <p:nvSpPr>
          <p:cNvPr id="5" name="TextBox 4">
            <a:extLst>
              <a:ext uri="{FF2B5EF4-FFF2-40B4-BE49-F238E27FC236}">
                <a16:creationId xmlns:a16="http://schemas.microsoft.com/office/drawing/2014/main" id="{9C1B0CF1-53D0-EB9C-715A-A8361A33989E}"/>
              </a:ext>
            </a:extLst>
          </p:cNvPr>
          <p:cNvSpPr txBox="1"/>
          <p:nvPr/>
        </p:nvSpPr>
        <p:spPr>
          <a:xfrm>
            <a:off x="838200" y="5188226"/>
            <a:ext cx="4578626" cy="923330"/>
          </a:xfrm>
          <a:prstGeom prst="rect">
            <a:avLst/>
          </a:prstGeom>
          <a:noFill/>
        </p:spPr>
        <p:txBody>
          <a:bodyPr wrap="square" rtlCol="0">
            <a:spAutoFit/>
          </a:bodyPr>
          <a:lstStyle/>
          <a:p>
            <a:r>
              <a:rPr lang="en-US" b="1" dirty="0"/>
              <a:t>Practical Example</a:t>
            </a:r>
          </a:p>
          <a:p>
            <a:r>
              <a:rPr lang="en-US" b="1" dirty="0"/>
              <a:t>Task:</a:t>
            </a:r>
            <a:r>
              <a:rPr lang="en-US" dirty="0"/>
              <a:t> "Book a flight from Chennai to Delhi."</a:t>
            </a:r>
          </a:p>
          <a:p>
            <a:endParaRPr lang="en-SG" dirty="0"/>
          </a:p>
        </p:txBody>
      </p:sp>
      <p:sp>
        <p:nvSpPr>
          <p:cNvPr id="6" name="TextBox 5">
            <a:extLst>
              <a:ext uri="{FF2B5EF4-FFF2-40B4-BE49-F238E27FC236}">
                <a16:creationId xmlns:a16="http://schemas.microsoft.com/office/drawing/2014/main" id="{19528834-BA32-9124-94F4-E3ADB40FB7FA}"/>
              </a:ext>
            </a:extLst>
          </p:cNvPr>
          <p:cNvSpPr txBox="1"/>
          <p:nvPr/>
        </p:nvSpPr>
        <p:spPr>
          <a:xfrm>
            <a:off x="5565913" y="4927282"/>
            <a:ext cx="2345635" cy="1477328"/>
          </a:xfrm>
          <a:prstGeom prst="rect">
            <a:avLst/>
          </a:prstGeom>
          <a:noFill/>
        </p:spPr>
        <p:txBody>
          <a:bodyPr wrap="square" rtlCol="0">
            <a:spAutoFit/>
          </a:bodyPr>
          <a:lstStyle/>
          <a:p>
            <a:r>
              <a:rPr lang="en-US" b="1" dirty="0"/>
              <a:t>ChatGPT</a:t>
            </a:r>
            <a:endParaRPr lang="en-US" dirty="0"/>
          </a:p>
          <a:p>
            <a:r>
              <a:rPr lang="en-US" dirty="0"/>
              <a:t>Suggests airlines </a:t>
            </a:r>
          </a:p>
          <a:p>
            <a:r>
              <a:rPr lang="en-US" dirty="0"/>
              <a:t>Gives travel advice </a:t>
            </a:r>
          </a:p>
          <a:p>
            <a:r>
              <a:rPr lang="en-US" dirty="0"/>
              <a:t>Shows sample itinerary</a:t>
            </a:r>
          </a:p>
          <a:p>
            <a:endParaRPr lang="en-SG" dirty="0"/>
          </a:p>
        </p:txBody>
      </p:sp>
      <p:sp>
        <p:nvSpPr>
          <p:cNvPr id="7" name="TextBox 6">
            <a:extLst>
              <a:ext uri="{FF2B5EF4-FFF2-40B4-BE49-F238E27FC236}">
                <a16:creationId xmlns:a16="http://schemas.microsoft.com/office/drawing/2014/main" id="{8E141595-8908-3F5E-187D-62A23DADFA49}"/>
              </a:ext>
            </a:extLst>
          </p:cNvPr>
          <p:cNvSpPr txBox="1"/>
          <p:nvPr/>
        </p:nvSpPr>
        <p:spPr>
          <a:xfrm>
            <a:off x="7841972" y="4927282"/>
            <a:ext cx="4154558" cy="2308324"/>
          </a:xfrm>
          <a:prstGeom prst="rect">
            <a:avLst/>
          </a:prstGeom>
          <a:noFill/>
        </p:spPr>
        <p:txBody>
          <a:bodyPr wrap="square" rtlCol="0">
            <a:spAutoFit/>
          </a:bodyPr>
          <a:lstStyle/>
          <a:p>
            <a:r>
              <a:rPr lang="en-US" b="1" dirty="0"/>
              <a:t>AI Agent</a:t>
            </a:r>
            <a:endParaRPr lang="en-US" dirty="0"/>
          </a:p>
          <a:p>
            <a:r>
              <a:rPr lang="en-US" dirty="0"/>
              <a:t>Searches flights </a:t>
            </a:r>
          </a:p>
          <a:p>
            <a:r>
              <a:rPr lang="en-US" dirty="0"/>
              <a:t>Compares prices </a:t>
            </a:r>
          </a:p>
          <a:p>
            <a:r>
              <a:rPr lang="en-US" dirty="0"/>
              <a:t>Selects the best option </a:t>
            </a:r>
          </a:p>
          <a:p>
            <a:r>
              <a:rPr lang="en-US" dirty="0"/>
              <a:t>Fills booking details </a:t>
            </a:r>
          </a:p>
          <a:p>
            <a:r>
              <a:rPr lang="en-US" dirty="0"/>
              <a:t>Requests confirmation and Completes the booking</a:t>
            </a:r>
          </a:p>
          <a:p>
            <a:endParaRPr lang="en-SG" dirty="0"/>
          </a:p>
        </p:txBody>
      </p:sp>
      <p:sp>
        <p:nvSpPr>
          <p:cNvPr id="8" name="TextBox 7">
            <a:extLst>
              <a:ext uri="{FF2B5EF4-FFF2-40B4-BE49-F238E27FC236}">
                <a16:creationId xmlns:a16="http://schemas.microsoft.com/office/drawing/2014/main" id="{62E091FC-483E-B29D-3D77-063DDB2FE538}"/>
              </a:ext>
            </a:extLst>
          </p:cNvPr>
          <p:cNvSpPr txBox="1"/>
          <p:nvPr/>
        </p:nvSpPr>
        <p:spPr>
          <a:xfrm>
            <a:off x="838200" y="6111556"/>
            <a:ext cx="3753678" cy="646331"/>
          </a:xfrm>
          <a:prstGeom prst="rect">
            <a:avLst/>
          </a:prstGeom>
          <a:noFill/>
        </p:spPr>
        <p:txBody>
          <a:bodyPr wrap="square" rtlCol="0">
            <a:spAutoFit/>
          </a:bodyPr>
          <a:lstStyle/>
          <a:p>
            <a:r>
              <a:rPr lang="en-US" b="1" dirty="0"/>
              <a:t>ChatGPT provides answers.</a:t>
            </a:r>
            <a:br>
              <a:rPr lang="en-US" b="1" dirty="0"/>
            </a:br>
            <a:r>
              <a:rPr lang="en-US" b="1" dirty="0"/>
              <a:t>AI Agents achieve goals.</a:t>
            </a:r>
            <a:endParaRPr lang="en-SG" b="1" dirty="0"/>
          </a:p>
        </p:txBody>
      </p:sp>
    </p:spTree>
    <p:extLst>
      <p:ext uri="{BB962C8B-B14F-4D97-AF65-F5344CB8AC3E}">
        <p14:creationId xmlns:p14="http://schemas.microsoft.com/office/powerpoint/2010/main" val="2473940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DA409-2951-351E-93D2-B6C4D788E932}"/>
              </a:ext>
            </a:extLst>
          </p:cNvPr>
          <p:cNvSpPr>
            <a:spLocks noGrp="1"/>
          </p:cNvSpPr>
          <p:nvPr>
            <p:ph type="title"/>
          </p:nvPr>
        </p:nvSpPr>
        <p:spPr/>
        <p:txBody>
          <a:bodyPr/>
          <a:lstStyle/>
          <a:p>
            <a:r>
              <a:rPr lang="en-SG" b="1" dirty="0"/>
              <a:t>AI Agent Architecture</a:t>
            </a:r>
          </a:p>
        </p:txBody>
      </p:sp>
      <p:pic>
        <p:nvPicPr>
          <p:cNvPr id="5" name="Content Placeholder 4">
            <a:extLst>
              <a:ext uri="{FF2B5EF4-FFF2-40B4-BE49-F238E27FC236}">
                <a16:creationId xmlns:a16="http://schemas.microsoft.com/office/drawing/2014/main" id="{59FC0805-0C4D-A00D-B284-510AB08E36AA}"/>
              </a:ext>
            </a:extLst>
          </p:cNvPr>
          <p:cNvPicPr>
            <a:picLocks noGrp="1" noChangeAspect="1"/>
          </p:cNvPicPr>
          <p:nvPr>
            <p:ph idx="1"/>
          </p:nvPr>
        </p:nvPicPr>
        <p:blipFill>
          <a:blip r:embed="rId2"/>
          <a:stretch>
            <a:fillRect/>
          </a:stretch>
        </p:blipFill>
        <p:spPr>
          <a:xfrm>
            <a:off x="2201096" y="1825625"/>
            <a:ext cx="7789807" cy="4351338"/>
          </a:xfrm>
          <a:prstGeom prst="rect">
            <a:avLst/>
          </a:prstGeom>
        </p:spPr>
      </p:pic>
      <p:sp>
        <p:nvSpPr>
          <p:cNvPr id="6" name="TextBox 5">
            <a:extLst>
              <a:ext uri="{FF2B5EF4-FFF2-40B4-BE49-F238E27FC236}">
                <a16:creationId xmlns:a16="http://schemas.microsoft.com/office/drawing/2014/main" id="{B47AD84A-B572-32A1-A7E3-E6A37D5C211B}"/>
              </a:ext>
            </a:extLst>
          </p:cNvPr>
          <p:cNvSpPr txBox="1"/>
          <p:nvPr/>
        </p:nvSpPr>
        <p:spPr>
          <a:xfrm>
            <a:off x="159025" y="4134678"/>
            <a:ext cx="4850295" cy="923330"/>
          </a:xfrm>
          <a:prstGeom prst="rect">
            <a:avLst/>
          </a:prstGeom>
          <a:noFill/>
        </p:spPr>
        <p:txBody>
          <a:bodyPr wrap="square" rtlCol="0">
            <a:spAutoFit/>
          </a:bodyPr>
          <a:lstStyle/>
          <a:p>
            <a:r>
              <a:rPr lang="en-US" b="1" dirty="0"/>
              <a:t>An LLM is the Brain.</a:t>
            </a:r>
            <a:br>
              <a:rPr lang="en-US" b="1" dirty="0"/>
            </a:br>
            <a:r>
              <a:rPr lang="en-US" b="1" dirty="0"/>
              <a:t>Memory, Planning, and Tools make it an AI Agent.</a:t>
            </a:r>
            <a:endParaRPr lang="en-SG" b="1" dirty="0"/>
          </a:p>
        </p:txBody>
      </p:sp>
    </p:spTree>
    <p:extLst>
      <p:ext uri="{BB962C8B-B14F-4D97-AF65-F5344CB8AC3E}">
        <p14:creationId xmlns:p14="http://schemas.microsoft.com/office/powerpoint/2010/main" val="94859292"/>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1"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BF6E7-1AF4-7887-5C6B-FE3D2189F564}"/>
              </a:ext>
            </a:extLst>
          </p:cNvPr>
          <p:cNvSpPr>
            <a:spLocks noGrp="1"/>
          </p:cNvSpPr>
          <p:nvPr>
            <p:ph type="title"/>
          </p:nvPr>
        </p:nvSpPr>
        <p:spPr/>
        <p:txBody>
          <a:bodyPr/>
          <a:lstStyle/>
          <a:p>
            <a:r>
              <a:rPr lang="en-US" b="1" dirty="0"/>
              <a:t>The Brain of an AI Agent – Large Language Model (LLM)</a:t>
            </a:r>
            <a:endParaRPr lang="en-SG" b="1" dirty="0"/>
          </a:p>
        </p:txBody>
      </p:sp>
      <p:pic>
        <p:nvPicPr>
          <p:cNvPr id="5" name="Picture 4">
            <a:extLst>
              <a:ext uri="{FF2B5EF4-FFF2-40B4-BE49-F238E27FC236}">
                <a16:creationId xmlns:a16="http://schemas.microsoft.com/office/drawing/2014/main" id="{F15ADE0D-6914-1860-31EF-AF5D5B6108A8}"/>
              </a:ext>
            </a:extLst>
          </p:cNvPr>
          <p:cNvPicPr>
            <a:picLocks noChangeAspect="1"/>
          </p:cNvPicPr>
          <p:nvPr/>
        </p:nvPicPr>
        <p:blipFill>
          <a:blip r:embed="rId2"/>
          <a:stretch>
            <a:fillRect/>
          </a:stretch>
        </p:blipFill>
        <p:spPr>
          <a:xfrm>
            <a:off x="376487" y="2013996"/>
            <a:ext cx="4175635" cy="3863675"/>
          </a:xfrm>
          <a:prstGeom prst="rect">
            <a:avLst/>
          </a:prstGeom>
        </p:spPr>
      </p:pic>
      <p:sp>
        <p:nvSpPr>
          <p:cNvPr id="6" name="TextBox 5">
            <a:extLst>
              <a:ext uri="{FF2B5EF4-FFF2-40B4-BE49-F238E27FC236}">
                <a16:creationId xmlns:a16="http://schemas.microsoft.com/office/drawing/2014/main" id="{7EBA20B0-B3BF-15CD-7C5A-1DE9219A8C13}"/>
              </a:ext>
            </a:extLst>
          </p:cNvPr>
          <p:cNvSpPr txBox="1"/>
          <p:nvPr/>
        </p:nvSpPr>
        <p:spPr>
          <a:xfrm>
            <a:off x="4691270" y="2027583"/>
            <a:ext cx="3955773" cy="4524315"/>
          </a:xfrm>
          <a:prstGeom prst="rect">
            <a:avLst/>
          </a:prstGeom>
          <a:noFill/>
        </p:spPr>
        <p:txBody>
          <a:bodyPr wrap="square" rtlCol="0">
            <a:spAutoFit/>
          </a:bodyPr>
          <a:lstStyle/>
          <a:p>
            <a:r>
              <a:rPr lang="en-US" b="1" dirty="0"/>
              <a:t>What Does an LLM Do?</a:t>
            </a:r>
          </a:p>
          <a:p>
            <a:r>
              <a:rPr lang="en-US" b="1" dirty="0"/>
              <a:t>Understands Natural Language</a:t>
            </a:r>
          </a:p>
          <a:p>
            <a:r>
              <a:rPr lang="en-US" dirty="0"/>
              <a:t>Interprets user requests in plain English. </a:t>
            </a:r>
          </a:p>
          <a:p>
            <a:r>
              <a:rPr lang="en-US" b="1" dirty="0"/>
              <a:t>Reasons About Problems</a:t>
            </a:r>
          </a:p>
          <a:p>
            <a:r>
              <a:rPr lang="en-US" dirty="0"/>
              <a:t>Breaks complex tasks into logical steps. </a:t>
            </a:r>
          </a:p>
          <a:p>
            <a:r>
              <a:rPr lang="en-US" b="1" dirty="0"/>
              <a:t>Generates Content</a:t>
            </a:r>
          </a:p>
          <a:p>
            <a:r>
              <a:rPr lang="en-US" dirty="0"/>
              <a:t>Text </a:t>
            </a:r>
          </a:p>
          <a:p>
            <a:r>
              <a:rPr lang="en-US" dirty="0"/>
              <a:t>Code </a:t>
            </a:r>
          </a:p>
          <a:p>
            <a:r>
              <a:rPr lang="en-US" dirty="0"/>
              <a:t>SQL </a:t>
            </a:r>
          </a:p>
          <a:p>
            <a:r>
              <a:rPr lang="en-US" dirty="0"/>
              <a:t>Emails </a:t>
            </a:r>
          </a:p>
          <a:p>
            <a:r>
              <a:rPr lang="en-US" dirty="0"/>
              <a:t>Documentation </a:t>
            </a:r>
          </a:p>
          <a:p>
            <a:r>
              <a:rPr lang="en-US" b="1" dirty="0"/>
              <a:t>Decides the Next Action</a:t>
            </a:r>
          </a:p>
          <a:p>
            <a:r>
              <a:rPr lang="en-US" dirty="0"/>
              <a:t>Chooses whether to answer directly or invoke a tool (when used within an AI Agent).</a:t>
            </a:r>
          </a:p>
          <a:p>
            <a:endParaRPr lang="en-SG" dirty="0"/>
          </a:p>
        </p:txBody>
      </p:sp>
      <p:sp>
        <p:nvSpPr>
          <p:cNvPr id="7" name="TextBox 6">
            <a:extLst>
              <a:ext uri="{FF2B5EF4-FFF2-40B4-BE49-F238E27FC236}">
                <a16:creationId xmlns:a16="http://schemas.microsoft.com/office/drawing/2014/main" id="{613E51CB-DDBE-FB8E-BF45-E90CB5754ECE}"/>
              </a:ext>
            </a:extLst>
          </p:cNvPr>
          <p:cNvSpPr txBox="1"/>
          <p:nvPr/>
        </p:nvSpPr>
        <p:spPr>
          <a:xfrm>
            <a:off x="8647043" y="2097157"/>
            <a:ext cx="3081131" cy="923330"/>
          </a:xfrm>
          <a:prstGeom prst="rect">
            <a:avLst/>
          </a:prstGeom>
          <a:noFill/>
        </p:spPr>
        <p:txBody>
          <a:bodyPr wrap="square" rtlCol="0">
            <a:spAutoFit/>
          </a:bodyPr>
          <a:lstStyle/>
          <a:p>
            <a:r>
              <a:rPr lang="en-US" b="1" dirty="0"/>
              <a:t>The LLM provides intelligence.</a:t>
            </a:r>
            <a:br>
              <a:rPr lang="en-US" b="1" dirty="0"/>
            </a:br>
            <a:r>
              <a:rPr lang="en-US" b="1" dirty="0"/>
              <a:t>The AI Agent provides execution.</a:t>
            </a:r>
            <a:endParaRPr lang="en-SG" b="1" dirty="0"/>
          </a:p>
        </p:txBody>
      </p:sp>
    </p:spTree>
    <p:extLst>
      <p:ext uri="{BB962C8B-B14F-4D97-AF65-F5344CB8AC3E}">
        <p14:creationId xmlns:p14="http://schemas.microsoft.com/office/powerpoint/2010/main" val="1780523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circle(in)">
                                      <p:cBhvr>
                                        <p:cTn id="1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E08E0-6DD6-93E6-9BFF-DE90CC22893B}"/>
              </a:ext>
            </a:extLst>
          </p:cNvPr>
          <p:cNvSpPr>
            <a:spLocks noGrp="1"/>
          </p:cNvSpPr>
          <p:nvPr>
            <p:ph type="title"/>
          </p:nvPr>
        </p:nvSpPr>
        <p:spPr>
          <a:xfrm>
            <a:off x="838200" y="365126"/>
            <a:ext cx="10515600" cy="1205258"/>
          </a:xfrm>
        </p:spPr>
        <p:txBody>
          <a:bodyPr>
            <a:normAutofit fontScale="90000"/>
          </a:bodyPr>
          <a:lstStyle/>
          <a:p>
            <a:r>
              <a:rPr lang="en-US" b="1" dirty="0"/>
              <a:t>How AI Agents Think: Reasoning &amp; Planning</a:t>
            </a:r>
            <a:br>
              <a:rPr lang="en-US" b="1" dirty="0"/>
            </a:br>
            <a:endParaRPr lang="en-SG" dirty="0"/>
          </a:p>
        </p:txBody>
      </p:sp>
      <p:sp>
        <p:nvSpPr>
          <p:cNvPr id="3" name="Content Placeholder 2">
            <a:extLst>
              <a:ext uri="{FF2B5EF4-FFF2-40B4-BE49-F238E27FC236}">
                <a16:creationId xmlns:a16="http://schemas.microsoft.com/office/drawing/2014/main" id="{311B7B7B-C5A4-E3D9-B333-6490B61220B6}"/>
              </a:ext>
            </a:extLst>
          </p:cNvPr>
          <p:cNvSpPr>
            <a:spLocks noGrp="1"/>
          </p:cNvSpPr>
          <p:nvPr>
            <p:ph idx="1"/>
          </p:nvPr>
        </p:nvSpPr>
        <p:spPr>
          <a:xfrm>
            <a:off x="1454426" y="1710530"/>
            <a:ext cx="10515600" cy="4351338"/>
          </a:xfrm>
        </p:spPr>
        <p:txBody>
          <a:bodyPr/>
          <a:lstStyle/>
          <a:p>
            <a:r>
              <a:rPr lang="en-US" b="1" dirty="0"/>
              <a:t>Goal:</a:t>
            </a:r>
          </a:p>
          <a:p>
            <a:r>
              <a:rPr lang="en-US" b="1" dirty="0"/>
              <a:t>"Plan a 3-day trip to Ooty within ₹15,000."</a:t>
            </a:r>
            <a:endParaRPr lang="en-US" dirty="0"/>
          </a:p>
          <a:p>
            <a:endParaRPr lang="en-SG" dirty="0"/>
          </a:p>
        </p:txBody>
      </p:sp>
      <p:sp>
        <p:nvSpPr>
          <p:cNvPr id="4" name="Rectangle 3">
            <a:extLst>
              <a:ext uri="{FF2B5EF4-FFF2-40B4-BE49-F238E27FC236}">
                <a16:creationId xmlns:a16="http://schemas.microsoft.com/office/drawing/2014/main" id="{6EBE1A7B-5A86-A30E-B840-3F6DEFD9B05D}"/>
              </a:ext>
            </a:extLst>
          </p:cNvPr>
          <p:cNvSpPr/>
          <p:nvPr/>
        </p:nvSpPr>
        <p:spPr>
          <a:xfrm>
            <a:off x="3965713" y="2872409"/>
            <a:ext cx="2464904" cy="3677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dirty="0"/>
              <a:t>Goal Received</a:t>
            </a:r>
          </a:p>
        </p:txBody>
      </p:sp>
      <p:cxnSp>
        <p:nvCxnSpPr>
          <p:cNvPr id="6" name="Straight Arrow Connector 5">
            <a:extLst>
              <a:ext uri="{FF2B5EF4-FFF2-40B4-BE49-F238E27FC236}">
                <a16:creationId xmlns:a16="http://schemas.microsoft.com/office/drawing/2014/main" id="{59918027-00F1-F95B-5CF1-9972B8E388DA}"/>
              </a:ext>
            </a:extLst>
          </p:cNvPr>
          <p:cNvCxnSpPr/>
          <p:nvPr/>
        </p:nvCxnSpPr>
        <p:spPr>
          <a:xfrm>
            <a:off x="5327374" y="3240157"/>
            <a:ext cx="0" cy="2782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F3265F74-C746-B837-FB71-0A692CF289DA}"/>
              </a:ext>
            </a:extLst>
          </p:cNvPr>
          <p:cNvSpPr/>
          <p:nvPr/>
        </p:nvSpPr>
        <p:spPr>
          <a:xfrm>
            <a:off x="3965713" y="3607904"/>
            <a:ext cx="2464903" cy="2782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dirty="0"/>
              <a:t>Understand the Goal</a:t>
            </a:r>
          </a:p>
        </p:txBody>
      </p:sp>
      <p:cxnSp>
        <p:nvCxnSpPr>
          <p:cNvPr id="9" name="Straight Arrow Connector 8">
            <a:extLst>
              <a:ext uri="{FF2B5EF4-FFF2-40B4-BE49-F238E27FC236}">
                <a16:creationId xmlns:a16="http://schemas.microsoft.com/office/drawing/2014/main" id="{AB627D79-20E4-F338-BE62-F19D6796FE83}"/>
              </a:ext>
            </a:extLst>
          </p:cNvPr>
          <p:cNvCxnSpPr/>
          <p:nvPr/>
        </p:nvCxnSpPr>
        <p:spPr>
          <a:xfrm>
            <a:off x="5327374" y="3886199"/>
            <a:ext cx="0" cy="2683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FB7B248D-CCF6-9F7D-9A42-08DE1AF008F1}"/>
              </a:ext>
            </a:extLst>
          </p:cNvPr>
          <p:cNvSpPr/>
          <p:nvPr/>
        </p:nvSpPr>
        <p:spPr>
          <a:xfrm>
            <a:off x="3001617" y="4154557"/>
            <a:ext cx="4552122" cy="13119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0B050"/>
                </a:solidFill>
              </a:rPr>
              <a:t>Break into Tasks </a:t>
            </a:r>
          </a:p>
          <a:p>
            <a:pPr algn="ctr"/>
            <a:r>
              <a:rPr lang="en-US" dirty="0"/>
              <a:t> • Find transport</a:t>
            </a:r>
            <a:br>
              <a:rPr lang="en-US" dirty="0"/>
            </a:br>
            <a:r>
              <a:rPr lang="en-US" dirty="0"/>
              <a:t>• Find hotels</a:t>
            </a:r>
            <a:br>
              <a:rPr lang="en-US" dirty="0"/>
            </a:br>
            <a:r>
              <a:rPr lang="en-US" dirty="0"/>
              <a:t>• Estimate budget</a:t>
            </a:r>
            <a:br>
              <a:rPr lang="en-US" dirty="0"/>
            </a:br>
            <a:r>
              <a:rPr lang="en-US" dirty="0"/>
              <a:t>• Plan itinerary</a:t>
            </a:r>
            <a:endParaRPr lang="en-SG" dirty="0"/>
          </a:p>
        </p:txBody>
      </p:sp>
      <p:cxnSp>
        <p:nvCxnSpPr>
          <p:cNvPr id="12" name="Straight Arrow Connector 11">
            <a:extLst>
              <a:ext uri="{FF2B5EF4-FFF2-40B4-BE49-F238E27FC236}">
                <a16:creationId xmlns:a16="http://schemas.microsoft.com/office/drawing/2014/main" id="{E00E43D6-92F0-612C-3E71-1DF13E855FC2}"/>
              </a:ext>
            </a:extLst>
          </p:cNvPr>
          <p:cNvCxnSpPr>
            <a:cxnSpLocks/>
            <a:stCxn id="10" idx="2"/>
          </p:cNvCxnSpPr>
          <p:nvPr/>
        </p:nvCxnSpPr>
        <p:spPr>
          <a:xfrm>
            <a:off x="5277678" y="5466522"/>
            <a:ext cx="0" cy="4174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68322C3C-C0B9-1DFC-AF9C-76B8A1094C66}"/>
              </a:ext>
            </a:extLst>
          </p:cNvPr>
          <p:cNvSpPr/>
          <p:nvPr/>
        </p:nvSpPr>
        <p:spPr>
          <a:xfrm>
            <a:off x="3001617" y="5923722"/>
            <a:ext cx="4552122" cy="4164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dirty="0"/>
              <a:t>Collect Information</a:t>
            </a:r>
          </a:p>
        </p:txBody>
      </p:sp>
      <p:cxnSp>
        <p:nvCxnSpPr>
          <p:cNvPr id="16" name="Straight Arrow Connector 15">
            <a:extLst>
              <a:ext uri="{FF2B5EF4-FFF2-40B4-BE49-F238E27FC236}">
                <a16:creationId xmlns:a16="http://schemas.microsoft.com/office/drawing/2014/main" id="{6A4858A2-0A8F-6F45-9B4A-C969750D3ECB}"/>
              </a:ext>
            </a:extLst>
          </p:cNvPr>
          <p:cNvCxnSpPr>
            <a:cxnSpLocks/>
            <a:stCxn id="14" idx="3"/>
            <a:endCxn id="17" idx="1"/>
          </p:cNvCxnSpPr>
          <p:nvPr/>
        </p:nvCxnSpPr>
        <p:spPr>
          <a:xfrm>
            <a:off x="7553739" y="6131943"/>
            <a:ext cx="568187" cy="5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EDD101B8-107C-3756-583B-3FC10437A33A}"/>
              </a:ext>
            </a:extLst>
          </p:cNvPr>
          <p:cNvSpPr/>
          <p:nvPr/>
        </p:nvSpPr>
        <p:spPr>
          <a:xfrm>
            <a:off x="8121926" y="5675243"/>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dirty="0"/>
              <a:t>Use Tools</a:t>
            </a:r>
          </a:p>
        </p:txBody>
      </p:sp>
      <p:cxnSp>
        <p:nvCxnSpPr>
          <p:cNvPr id="20" name="Straight Arrow Connector 19">
            <a:extLst>
              <a:ext uri="{FF2B5EF4-FFF2-40B4-BE49-F238E27FC236}">
                <a16:creationId xmlns:a16="http://schemas.microsoft.com/office/drawing/2014/main" id="{F72FAAE1-2A8E-E263-9D1E-10E032340544}"/>
              </a:ext>
            </a:extLst>
          </p:cNvPr>
          <p:cNvCxnSpPr>
            <a:stCxn id="17" idx="3"/>
          </p:cNvCxnSpPr>
          <p:nvPr/>
        </p:nvCxnSpPr>
        <p:spPr>
          <a:xfrm flipV="1">
            <a:off x="9036326" y="6061868"/>
            <a:ext cx="435665" cy="705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6D7C3BC5-4C8A-26DC-701C-4F266EA77ED3}"/>
              </a:ext>
            </a:extLst>
          </p:cNvPr>
          <p:cNvSpPr/>
          <p:nvPr/>
        </p:nvSpPr>
        <p:spPr>
          <a:xfrm>
            <a:off x="9541565" y="5675243"/>
            <a:ext cx="2246244" cy="8176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SG" dirty="0">
                <a:solidFill>
                  <a:srgbClr val="FFFF00"/>
                </a:solidFill>
              </a:rPr>
              <a:t>Generate Final Plan</a:t>
            </a:r>
          </a:p>
        </p:txBody>
      </p:sp>
    </p:spTree>
    <p:extLst>
      <p:ext uri="{BB962C8B-B14F-4D97-AF65-F5344CB8AC3E}">
        <p14:creationId xmlns:p14="http://schemas.microsoft.com/office/powerpoint/2010/main" val="36183780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C5B6C-3A9F-6CC6-7945-FC6AAE46A591}"/>
              </a:ext>
            </a:extLst>
          </p:cNvPr>
          <p:cNvSpPr>
            <a:spLocks noGrp="1"/>
          </p:cNvSpPr>
          <p:nvPr>
            <p:ph type="title"/>
          </p:nvPr>
        </p:nvSpPr>
        <p:spPr/>
        <p:txBody>
          <a:bodyPr/>
          <a:lstStyle/>
          <a:p>
            <a:r>
              <a:rPr lang="en-US" b="1" dirty="0"/>
              <a:t>How AI Agents Think: Reasoning &amp; Planning</a:t>
            </a:r>
            <a:endParaRPr lang="en-SG" dirty="0"/>
          </a:p>
        </p:txBody>
      </p:sp>
      <p:sp>
        <p:nvSpPr>
          <p:cNvPr id="3" name="Content Placeholder 2">
            <a:extLst>
              <a:ext uri="{FF2B5EF4-FFF2-40B4-BE49-F238E27FC236}">
                <a16:creationId xmlns:a16="http://schemas.microsoft.com/office/drawing/2014/main" id="{D1D6D902-D0D9-2F38-EC79-C7A84C4B2160}"/>
              </a:ext>
            </a:extLst>
          </p:cNvPr>
          <p:cNvSpPr>
            <a:spLocks noGrp="1"/>
          </p:cNvSpPr>
          <p:nvPr>
            <p:ph idx="1"/>
          </p:nvPr>
        </p:nvSpPr>
        <p:spPr>
          <a:xfrm>
            <a:off x="838200" y="1825625"/>
            <a:ext cx="10515600" cy="2726497"/>
          </a:xfrm>
        </p:spPr>
        <p:txBody>
          <a:bodyPr/>
          <a:lstStyle/>
          <a:p>
            <a:pPr marL="0" indent="0">
              <a:buNone/>
            </a:pPr>
            <a:r>
              <a:rPr lang="en-SG" dirty="0"/>
              <a:t>Human vs AI Agent</a:t>
            </a:r>
          </a:p>
          <a:p>
            <a:pPr marL="0" indent="0">
              <a:buNone/>
            </a:pPr>
            <a:endParaRPr lang="en-SG" dirty="0"/>
          </a:p>
        </p:txBody>
      </p:sp>
      <p:graphicFrame>
        <p:nvGraphicFramePr>
          <p:cNvPr id="4" name="Table 3">
            <a:extLst>
              <a:ext uri="{FF2B5EF4-FFF2-40B4-BE49-F238E27FC236}">
                <a16:creationId xmlns:a16="http://schemas.microsoft.com/office/drawing/2014/main" id="{2FBB7E75-7E98-2D09-CFEC-A6C57FE3A9DE}"/>
              </a:ext>
            </a:extLst>
          </p:cNvPr>
          <p:cNvGraphicFramePr>
            <a:graphicFrameLocks noGrp="1"/>
          </p:cNvGraphicFramePr>
          <p:nvPr>
            <p:extLst>
              <p:ext uri="{D42A27DB-BD31-4B8C-83A1-F6EECF244321}">
                <p14:modId xmlns:p14="http://schemas.microsoft.com/office/powerpoint/2010/main" val="3737590479"/>
              </p:ext>
            </p:extLst>
          </p:nvPr>
        </p:nvGraphicFramePr>
        <p:xfrm>
          <a:off x="1117600" y="2501900"/>
          <a:ext cx="8128000" cy="18542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401290914"/>
                    </a:ext>
                  </a:extLst>
                </a:gridCol>
                <a:gridCol w="4064000">
                  <a:extLst>
                    <a:ext uri="{9D8B030D-6E8A-4147-A177-3AD203B41FA5}">
                      <a16:colId xmlns:a16="http://schemas.microsoft.com/office/drawing/2014/main" val="22195987"/>
                    </a:ext>
                  </a:extLst>
                </a:gridCol>
              </a:tblGrid>
              <a:tr h="370840">
                <a:tc>
                  <a:txBody>
                    <a:bodyPr/>
                    <a:lstStyle/>
                    <a:p>
                      <a:r>
                        <a:rPr lang="en-SG" dirty="0"/>
                        <a:t>Human</a:t>
                      </a:r>
                    </a:p>
                  </a:txBody>
                  <a:tcPr/>
                </a:tc>
                <a:tc>
                  <a:txBody>
                    <a:bodyPr/>
                    <a:lstStyle/>
                    <a:p>
                      <a:r>
                        <a:rPr lang="en-SG" dirty="0"/>
                        <a:t>AI Agent</a:t>
                      </a:r>
                    </a:p>
                  </a:txBody>
                  <a:tcPr/>
                </a:tc>
                <a:extLst>
                  <a:ext uri="{0D108BD9-81ED-4DB2-BD59-A6C34878D82A}">
                    <a16:rowId xmlns:a16="http://schemas.microsoft.com/office/drawing/2014/main" val="888055803"/>
                  </a:ext>
                </a:extLst>
              </a:tr>
              <a:tr h="370840">
                <a:tc>
                  <a:txBody>
                    <a:bodyPr/>
                    <a:lstStyle/>
                    <a:p>
                      <a:r>
                        <a:rPr lang="en-SG" dirty="0"/>
                        <a:t>Thinks before acting</a:t>
                      </a:r>
                    </a:p>
                  </a:txBody>
                  <a:tcPr/>
                </a:tc>
                <a:tc>
                  <a:txBody>
                    <a:bodyPr/>
                    <a:lstStyle/>
                    <a:p>
                      <a:r>
                        <a:rPr lang="en-SG" dirty="0"/>
                        <a:t>Reasons before acting</a:t>
                      </a:r>
                    </a:p>
                  </a:txBody>
                  <a:tcPr/>
                </a:tc>
                <a:extLst>
                  <a:ext uri="{0D108BD9-81ED-4DB2-BD59-A6C34878D82A}">
                    <a16:rowId xmlns:a16="http://schemas.microsoft.com/office/drawing/2014/main" val="501510646"/>
                  </a:ext>
                </a:extLst>
              </a:tr>
              <a:tr h="370840">
                <a:tc>
                  <a:txBody>
                    <a:bodyPr/>
                    <a:lstStyle/>
                    <a:p>
                      <a:r>
                        <a:rPr lang="en-SG" dirty="0"/>
                        <a:t>Makes a plan</a:t>
                      </a:r>
                    </a:p>
                  </a:txBody>
                  <a:tcPr/>
                </a:tc>
                <a:tc>
                  <a:txBody>
                    <a:bodyPr/>
                    <a:lstStyle/>
                    <a:p>
                      <a:r>
                        <a:rPr lang="en-SG" dirty="0"/>
                        <a:t>Creates a task plan</a:t>
                      </a:r>
                    </a:p>
                  </a:txBody>
                  <a:tcPr/>
                </a:tc>
                <a:extLst>
                  <a:ext uri="{0D108BD9-81ED-4DB2-BD59-A6C34878D82A}">
                    <a16:rowId xmlns:a16="http://schemas.microsoft.com/office/drawing/2014/main" val="1163212084"/>
                  </a:ext>
                </a:extLst>
              </a:tr>
              <a:tr h="370840">
                <a:tc>
                  <a:txBody>
                    <a:bodyPr/>
                    <a:lstStyle/>
                    <a:p>
                      <a:r>
                        <a:rPr lang="en-SG" dirty="0"/>
                        <a:t>Uses resources</a:t>
                      </a:r>
                    </a:p>
                  </a:txBody>
                  <a:tcPr/>
                </a:tc>
                <a:tc>
                  <a:txBody>
                    <a:bodyPr/>
                    <a:lstStyle/>
                    <a:p>
                      <a:r>
                        <a:rPr lang="en-SG" dirty="0"/>
                        <a:t>Uses tools/APIs</a:t>
                      </a:r>
                    </a:p>
                  </a:txBody>
                  <a:tcPr/>
                </a:tc>
                <a:extLst>
                  <a:ext uri="{0D108BD9-81ED-4DB2-BD59-A6C34878D82A}">
                    <a16:rowId xmlns:a16="http://schemas.microsoft.com/office/drawing/2014/main" val="3184440310"/>
                  </a:ext>
                </a:extLst>
              </a:tr>
              <a:tr h="370840">
                <a:tc>
                  <a:txBody>
                    <a:bodyPr/>
                    <a:lstStyle/>
                    <a:p>
                      <a:r>
                        <a:rPr lang="en-SG" dirty="0"/>
                        <a:t>Checks progress</a:t>
                      </a:r>
                    </a:p>
                  </a:txBody>
                  <a:tcPr/>
                </a:tc>
                <a:tc>
                  <a:txBody>
                    <a:bodyPr/>
                    <a:lstStyle/>
                    <a:p>
                      <a:r>
                        <a:rPr lang="en-SG" dirty="0"/>
                        <a:t>Evaluates results</a:t>
                      </a:r>
                    </a:p>
                  </a:txBody>
                  <a:tcPr/>
                </a:tc>
                <a:extLst>
                  <a:ext uri="{0D108BD9-81ED-4DB2-BD59-A6C34878D82A}">
                    <a16:rowId xmlns:a16="http://schemas.microsoft.com/office/drawing/2014/main" val="2707944590"/>
                  </a:ext>
                </a:extLst>
              </a:tr>
            </a:tbl>
          </a:graphicData>
        </a:graphic>
      </p:graphicFrame>
      <p:sp>
        <p:nvSpPr>
          <p:cNvPr id="5" name="TextBox 4">
            <a:extLst>
              <a:ext uri="{FF2B5EF4-FFF2-40B4-BE49-F238E27FC236}">
                <a16:creationId xmlns:a16="http://schemas.microsoft.com/office/drawing/2014/main" id="{9AAA67C0-35F3-A00D-E957-66E634074278}"/>
              </a:ext>
            </a:extLst>
          </p:cNvPr>
          <p:cNvSpPr txBox="1"/>
          <p:nvPr/>
        </p:nvSpPr>
        <p:spPr>
          <a:xfrm>
            <a:off x="1117600" y="4949687"/>
            <a:ext cx="9268791" cy="369332"/>
          </a:xfrm>
          <a:prstGeom prst="rect">
            <a:avLst/>
          </a:prstGeom>
          <a:noFill/>
        </p:spPr>
        <p:txBody>
          <a:bodyPr wrap="square" rtlCol="0">
            <a:spAutoFit/>
          </a:bodyPr>
          <a:lstStyle/>
          <a:p>
            <a:r>
              <a:rPr lang="en-US" b="1" dirty="0">
                <a:solidFill>
                  <a:srgbClr val="0070C0"/>
                </a:solidFill>
              </a:rPr>
              <a:t>Good AI Agents don't just answer. They reason, plan, and execute.</a:t>
            </a:r>
            <a:endParaRPr lang="en-SG" b="1" dirty="0">
              <a:solidFill>
                <a:srgbClr val="0070C0"/>
              </a:solidFill>
            </a:endParaRPr>
          </a:p>
        </p:txBody>
      </p:sp>
    </p:spTree>
    <p:extLst>
      <p:ext uri="{BB962C8B-B14F-4D97-AF65-F5344CB8AC3E}">
        <p14:creationId xmlns:p14="http://schemas.microsoft.com/office/powerpoint/2010/main" val="1043442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5AAC2-340E-26E6-AF27-3C4C39325AF1}"/>
              </a:ext>
            </a:extLst>
          </p:cNvPr>
          <p:cNvSpPr>
            <a:spLocks noGrp="1"/>
          </p:cNvSpPr>
          <p:nvPr>
            <p:ph type="title"/>
          </p:nvPr>
        </p:nvSpPr>
        <p:spPr/>
        <p:txBody>
          <a:bodyPr/>
          <a:lstStyle/>
          <a:p>
            <a:r>
              <a:rPr lang="en-US" b="1" dirty="0"/>
              <a:t>Demo: Build Your First AI Agent</a:t>
            </a:r>
            <a:endParaRPr lang="en-SG" b="1" dirty="0"/>
          </a:p>
        </p:txBody>
      </p:sp>
      <p:sp>
        <p:nvSpPr>
          <p:cNvPr id="3" name="Content Placeholder 2">
            <a:extLst>
              <a:ext uri="{FF2B5EF4-FFF2-40B4-BE49-F238E27FC236}">
                <a16:creationId xmlns:a16="http://schemas.microsoft.com/office/drawing/2014/main" id="{ABC4DCF1-FB3B-D927-CB71-008163E2F9B0}"/>
              </a:ext>
            </a:extLst>
          </p:cNvPr>
          <p:cNvSpPr>
            <a:spLocks noGrp="1"/>
          </p:cNvSpPr>
          <p:nvPr>
            <p:ph idx="1"/>
          </p:nvPr>
        </p:nvSpPr>
        <p:spPr>
          <a:xfrm>
            <a:off x="626165" y="1825625"/>
            <a:ext cx="10856844" cy="4351338"/>
          </a:xfrm>
        </p:spPr>
        <p:txBody>
          <a:bodyPr/>
          <a:lstStyle/>
          <a:p>
            <a:pPr marL="2743200" lvl="6" indent="0">
              <a:buNone/>
            </a:pPr>
            <a:r>
              <a:rPr lang="en-SG" dirty="0"/>
              <a:t>        Install Required Libraries</a:t>
            </a:r>
          </a:p>
          <a:p>
            <a:pPr marL="2743200" lvl="6" indent="0">
              <a:buNone/>
            </a:pPr>
            <a:endParaRPr lang="en-SG" dirty="0"/>
          </a:p>
        </p:txBody>
      </p:sp>
      <p:cxnSp>
        <p:nvCxnSpPr>
          <p:cNvPr id="5" name="Straight Arrow Connector 4">
            <a:extLst>
              <a:ext uri="{FF2B5EF4-FFF2-40B4-BE49-F238E27FC236}">
                <a16:creationId xmlns:a16="http://schemas.microsoft.com/office/drawing/2014/main" id="{9FA66BBC-14EB-C3E9-7DCA-4ADC11AD8EAE}"/>
              </a:ext>
            </a:extLst>
          </p:cNvPr>
          <p:cNvCxnSpPr/>
          <p:nvPr/>
        </p:nvCxnSpPr>
        <p:spPr>
          <a:xfrm>
            <a:off x="4959626" y="2136913"/>
            <a:ext cx="0" cy="2683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5ACED45-4384-199C-3B1F-FA693114B8BF}"/>
              </a:ext>
            </a:extLst>
          </p:cNvPr>
          <p:cNvSpPr txBox="1"/>
          <p:nvPr/>
        </p:nvSpPr>
        <p:spPr>
          <a:xfrm>
            <a:off x="3771900" y="2459176"/>
            <a:ext cx="2375452" cy="369332"/>
          </a:xfrm>
          <a:prstGeom prst="rect">
            <a:avLst/>
          </a:prstGeom>
          <a:noFill/>
        </p:spPr>
        <p:txBody>
          <a:bodyPr wrap="square" rtlCol="0">
            <a:spAutoFit/>
          </a:bodyPr>
          <a:lstStyle/>
          <a:p>
            <a:r>
              <a:rPr lang="en-SG" dirty="0"/>
              <a:t>   Connect to an LLM</a:t>
            </a:r>
          </a:p>
        </p:txBody>
      </p:sp>
      <p:cxnSp>
        <p:nvCxnSpPr>
          <p:cNvPr id="8" name="Straight Arrow Connector 7">
            <a:extLst>
              <a:ext uri="{FF2B5EF4-FFF2-40B4-BE49-F238E27FC236}">
                <a16:creationId xmlns:a16="http://schemas.microsoft.com/office/drawing/2014/main" id="{D99E9780-E308-0CC9-518B-011E5A022C51}"/>
              </a:ext>
            </a:extLst>
          </p:cNvPr>
          <p:cNvCxnSpPr>
            <a:cxnSpLocks/>
          </p:cNvCxnSpPr>
          <p:nvPr/>
        </p:nvCxnSpPr>
        <p:spPr>
          <a:xfrm>
            <a:off x="4959626" y="2828508"/>
            <a:ext cx="0" cy="3023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846B9D2-D209-9DE9-BE1E-40B9A0B26F85}"/>
              </a:ext>
            </a:extLst>
          </p:cNvPr>
          <p:cNvSpPr txBox="1"/>
          <p:nvPr/>
        </p:nvSpPr>
        <p:spPr>
          <a:xfrm>
            <a:off x="4055165" y="3289852"/>
            <a:ext cx="2092187" cy="369332"/>
          </a:xfrm>
          <a:prstGeom prst="rect">
            <a:avLst/>
          </a:prstGeom>
          <a:noFill/>
        </p:spPr>
        <p:txBody>
          <a:bodyPr wrap="square" rtlCol="0">
            <a:spAutoFit/>
          </a:bodyPr>
          <a:lstStyle/>
          <a:p>
            <a:r>
              <a:rPr lang="en-SG" dirty="0"/>
              <a:t>   Send a Prompt</a:t>
            </a:r>
          </a:p>
        </p:txBody>
      </p:sp>
      <p:cxnSp>
        <p:nvCxnSpPr>
          <p:cNvPr id="13" name="Straight Arrow Connector 12">
            <a:extLst>
              <a:ext uri="{FF2B5EF4-FFF2-40B4-BE49-F238E27FC236}">
                <a16:creationId xmlns:a16="http://schemas.microsoft.com/office/drawing/2014/main" id="{E5D8A8B3-8E7D-B45D-03AB-A6C30C1D2C4B}"/>
              </a:ext>
            </a:extLst>
          </p:cNvPr>
          <p:cNvCxnSpPr/>
          <p:nvPr/>
        </p:nvCxnSpPr>
        <p:spPr>
          <a:xfrm>
            <a:off x="4959626" y="3659184"/>
            <a:ext cx="0" cy="2468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66C46F7-C078-9ADD-5074-D32A7336C7EA}"/>
              </a:ext>
            </a:extLst>
          </p:cNvPr>
          <p:cNvSpPr txBox="1"/>
          <p:nvPr/>
        </p:nvSpPr>
        <p:spPr>
          <a:xfrm>
            <a:off x="4129708" y="3937480"/>
            <a:ext cx="2017637" cy="369332"/>
          </a:xfrm>
          <a:prstGeom prst="rect">
            <a:avLst/>
          </a:prstGeom>
          <a:noFill/>
        </p:spPr>
        <p:txBody>
          <a:bodyPr wrap="square" rtlCol="0">
            <a:spAutoFit/>
          </a:bodyPr>
          <a:lstStyle/>
          <a:p>
            <a:r>
              <a:rPr lang="en-SG" dirty="0"/>
              <a:t>Receive Response</a:t>
            </a:r>
          </a:p>
        </p:txBody>
      </p:sp>
      <p:cxnSp>
        <p:nvCxnSpPr>
          <p:cNvPr id="16" name="Straight Arrow Connector 15">
            <a:extLst>
              <a:ext uri="{FF2B5EF4-FFF2-40B4-BE49-F238E27FC236}">
                <a16:creationId xmlns:a16="http://schemas.microsoft.com/office/drawing/2014/main" id="{B2728E6C-F806-AD8C-61B1-6DCE6E71B8F3}"/>
              </a:ext>
            </a:extLst>
          </p:cNvPr>
          <p:cNvCxnSpPr/>
          <p:nvPr/>
        </p:nvCxnSpPr>
        <p:spPr>
          <a:xfrm>
            <a:off x="4959626" y="4306812"/>
            <a:ext cx="0" cy="2651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E3EA2BF3-FC8D-6409-5AFF-BAF1712706E7}"/>
              </a:ext>
            </a:extLst>
          </p:cNvPr>
          <p:cNvSpPr txBox="1"/>
          <p:nvPr/>
        </p:nvSpPr>
        <p:spPr>
          <a:xfrm>
            <a:off x="4214191" y="4671391"/>
            <a:ext cx="2092184" cy="369332"/>
          </a:xfrm>
          <a:prstGeom prst="rect">
            <a:avLst/>
          </a:prstGeom>
          <a:noFill/>
        </p:spPr>
        <p:txBody>
          <a:bodyPr wrap="square" rtlCol="0">
            <a:spAutoFit/>
          </a:bodyPr>
          <a:lstStyle/>
          <a:p>
            <a:r>
              <a:rPr lang="en-SG" dirty="0"/>
              <a:t>Build First AI Agent</a:t>
            </a:r>
          </a:p>
        </p:txBody>
      </p:sp>
      <p:sp>
        <p:nvSpPr>
          <p:cNvPr id="19" name="TextBox 18">
            <a:extLst>
              <a:ext uri="{FF2B5EF4-FFF2-40B4-BE49-F238E27FC236}">
                <a16:creationId xmlns:a16="http://schemas.microsoft.com/office/drawing/2014/main" id="{CA30E5ED-AB92-9F80-D2DD-66C4A54A3AE7}"/>
              </a:ext>
            </a:extLst>
          </p:cNvPr>
          <p:cNvSpPr txBox="1"/>
          <p:nvPr/>
        </p:nvSpPr>
        <p:spPr>
          <a:xfrm>
            <a:off x="626165" y="2266122"/>
            <a:ext cx="2554353" cy="369332"/>
          </a:xfrm>
          <a:prstGeom prst="rect">
            <a:avLst/>
          </a:prstGeom>
          <a:noFill/>
        </p:spPr>
        <p:txBody>
          <a:bodyPr wrap="square" rtlCol="0">
            <a:spAutoFit/>
          </a:bodyPr>
          <a:lstStyle/>
          <a:p>
            <a:r>
              <a:rPr lang="en-SG" b="1" u="sng" dirty="0"/>
              <a:t>What We Will Build</a:t>
            </a:r>
          </a:p>
        </p:txBody>
      </p:sp>
      <p:sp>
        <p:nvSpPr>
          <p:cNvPr id="20" name="TextBox 19">
            <a:extLst>
              <a:ext uri="{FF2B5EF4-FFF2-40B4-BE49-F238E27FC236}">
                <a16:creationId xmlns:a16="http://schemas.microsoft.com/office/drawing/2014/main" id="{F1D72B81-4E1D-9215-EE17-D188A49D0D1D}"/>
              </a:ext>
            </a:extLst>
          </p:cNvPr>
          <p:cNvSpPr txBox="1"/>
          <p:nvPr/>
        </p:nvSpPr>
        <p:spPr>
          <a:xfrm>
            <a:off x="7315200" y="2027583"/>
            <a:ext cx="2445025" cy="2585323"/>
          </a:xfrm>
          <a:prstGeom prst="rect">
            <a:avLst/>
          </a:prstGeom>
          <a:noFill/>
        </p:spPr>
        <p:txBody>
          <a:bodyPr wrap="square" rtlCol="0">
            <a:spAutoFit/>
          </a:bodyPr>
          <a:lstStyle/>
          <a:p>
            <a:r>
              <a:rPr lang="en-US" b="1" dirty="0"/>
              <a:t>Outcome</a:t>
            </a:r>
          </a:p>
          <a:p>
            <a:r>
              <a:rPr lang="en-US" dirty="0"/>
              <a:t>By the end of this demo you will:</a:t>
            </a:r>
          </a:p>
          <a:p>
            <a:r>
              <a:rPr lang="en-US" dirty="0"/>
              <a:t>1 Create your first AI Agent</a:t>
            </a:r>
          </a:p>
          <a:p>
            <a:r>
              <a:rPr lang="en-US" dirty="0"/>
              <a:t>2 Understand LLM interaction</a:t>
            </a:r>
          </a:p>
          <a:p>
            <a:r>
              <a:rPr lang="en-US" dirty="0"/>
              <a:t>3 Execute Python code</a:t>
            </a:r>
          </a:p>
          <a:p>
            <a:endParaRPr lang="en-SG" dirty="0"/>
          </a:p>
        </p:txBody>
      </p:sp>
      <p:sp>
        <p:nvSpPr>
          <p:cNvPr id="22" name="TextBox 21">
            <a:extLst>
              <a:ext uri="{FF2B5EF4-FFF2-40B4-BE49-F238E27FC236}">
                <a16:creationId xmlns:a16="http://schemas.microsoft.com/office/drawing/2014/main" id="{7C07B404-8F43-0DBC-182F-9E8FA4646D6C}"/>
              </a:ext>
            </a:extLst>
          </p:cNvPr>
          <p:cNvSpPr txBox="1"/>
          <p:nvPr/>
        </p:nvSpPr>
        <p:spPr>
          <a:xfrm>
            <a:off x="3498574" y="5486400"/>
            <a:ext cx="3975652" cy="584775"/>
          </a:xfrm>
          <a:prstGeom prst="rect">
            <a:avLst/>
          </a:prstGeom>
          <a:noFill/>
        </p:spPr>
        <p:txBody>
          <a:bodyPr wrap="square" rtlCol="0">
            <a:spAutoFit/>
          </a:bodyPr>
          <a:lstStyle/>
          <a:p>
            <a:r>
              <a:rPr lang="en-SG" sz="3200" b="1" dirty="0">
                <a:solidFill>
                  <a:schemeClr val="accent1">
                    <a:lumMod val="75000"/>
                  </a:schemeClr>
                </a:solidFill>
                <a:highlight>
                  <a:srgbClr val="FFFF00"/>
                </a:highlight>
              </a:rPr>
              <a:t>LIVE CODING SESSION</a:t>
            </a:r>
          </a:p>
        </p:txBody>
      </p:sp>
      <p:sp>
        <p:nvSpPr>
          <p:cNvPr id="23" name="TextBox 22">
            <a:extLst>
              <a:ext uri="{FF2B5EF4-FFF2-40B4-BE49-F238E27FC236}">
                <a16:creationId xmlns:a16="http://schemas.microsoft.com/office/drawing/2014/main" id="{8AC45BDD-5622-FD6F-F62B-1D8FD793C092}"/>
              </a:ext>
            </a:extLst>
          </p:cNvPr>
          <p:cNvSpPr txBox="1"/>
          <p:nvPr/>
        </p:nvSpPr>
        <p:spPr>
          <a:xfrm>
            <a:off x="3021496" y="6176963"/>
            <a:ext cx="6149008" cy="369332"/>
          </a:xfrm>
          <a:prstGeom prst="rect">
            <a:avLst/>
          </a:prstGeom>
          <a:noFill/>
        </p:spPr>
        <p:txBody>
          <a:bodyPr wrap="square" rtlCol="0">
            <a:spAutoFit/>
          </a:bodyPr>
          <a:lstStyle/>
          <a:p>
            <a:r>
              <a:rPr lang="en-US" b="1" dirty="0">
                <a:solidFill>
                  <a:schemeClr val="accent2">
                    <a:lumMod val="75000"/>
                  </a:schemeClr>
                </a:solidFill>
              </a:rPr>
              <a:t>From this point onward, you'll write code along with me.</a:t>
            </a:r>
            <a:endParaRPr lang="en-SG" b="1" dirty="0">
              <a:solidFill>
                <a:schemeClr val="accent2">
                  <a:lumMod val="75000"/>
                </a:schemeClr>
              </a:solidFill>
            </a:endParaRPr>
          </a:p>
        </p:txBody>
      </p:sp>
    </p:spTree>
    <p:extLst>
      <p:ext uri="{BB962C8B-B14F-4D97-AF65-F5344CB8AC3E}">
        <p14:creationId xmlns:p14="http://schemas.microsoft.com/office/powerpoint/2010/main" val="309652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1286</TotalTime>
  <Words>750</Words>
  <Application>Microsoft Office PowerPoint</Application>
  <PresentationFormat>Widescreen</PresentationFormat>
  <Paragraphs>197</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Wingdings</vt:lpstr>
      <vt:lpstr>Office Theme</vt:lpstr>
      <vt:lpstr>Build Production-Ready AI Agents Using Python</vt:lpstr>
      <vt:lpstr>About the Trainer</vt:lpstr>
      <vt:lpstr>Today's Journey Build Production-Ready AI Agents Step by Step </vt:lpstr>
      <vt:lpstr>The Evolution of Artificial Intelligence</vt:lpstr>
      <vt:lpstr>What is an AI Agent?</vt:lpstr>
      <vt:lpstr>AI Agent Cycle</vt:lpstr>
      <vt:lpstr>ChatGPT vs AI Agent</vt:lpstr>
      <vt:lpstr>AI Agent Architecture</vt:lpstr>
      <vt:lpstr>The Brain of an AI Agent – Large Language Model (LLM)</vt:lpstr>
      <vt:lpstr>How AI Agents Think: Reasoning &amp; Planning </vt:lpstr>
      <vt:lpstr>How AI Agents Think: Reasoning &amp; Planning</vt:lpstr>
      <vt:lpstr>Demo: Build Your First AI Agent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Prabakaran Krishnan</dc:creator>
  <cp:lastModifiedBy>Prabakaran Krishnan</cp:lastModifiedBy>
  <cp:revision>20</cp:revision>
  <dcterms:created xsi:type="dcterms:W3CDTF">2026-06-27T15:49:12Z</dcterms:created>
  <dcterms:modified xsi:type="dcterms:W3CDTF">2026-06-28T13:20:32Z</dcterms:modified>
</cp:coreProperties>
</file>